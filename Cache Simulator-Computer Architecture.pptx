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nonymous Pro Bold" panose="020B0604020202020204" charset="0"/>
      <p:regular r:id="rId17"/>
    </p:embeddedFont>
    <p:embeddedFont>
      <p:font typeface="Canva Sans" panose="020B0604020202020204" charset="0"/>
      <p:regular r:id="rId18"/>
    </p:embeddedFont>
    <p:embeddedFont>
      <p:font typeface="Cousine" panose="02070409020205020404" pitchFamily="49" charset="0"/>
      <p:regular r:id="rId19"/>
    </p:embeddedFont>
    <p:embeddedFont>
      <p:font typeface="Cousine Bold" panose="020B0604020202020204" charset="0"/>
      <p:regular r:id="rId20"/>
    </p:embeddedFont>
    <p:embeddedFont>
      <p:font typeface="Cousine Bold Italic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0" d="100"/>
          <a:sy n="50" d="100"/>
        </p:scale>
        <p:origin x="3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My project tackles one of the biggest bottlenecks in modern computers: the 'Memory Wall.' Put simply, our processors are incredibly fast, but our main memory can't keep up. This means the CPU is often just sitting idle, waiting for data. The solution we've used for decades is cache memory—a small, extremely fast buffer that sits between the CPU and main memory."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goal of this project was to build a tool that lets us experiment with different cache designs. It's a C program that simulates a cache, and you can configure all the key parameters: its size, its organization, and the replacement policy it uses. The ultimate goal is to process a list of memory accesses and see how many 'hits' versus 'misses' we get."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logic is simple. When the CPU needs data, it checks the cache first. If the data is there, it's a 'cache hit'—this is very fast. If the data isn't there, it's a 'cache miss,' and we have to pay a heavy time penalty to go all the way to main memory. Our goal in cache design is to maximize the hit rate."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logic is simple. When the CPU needs data, it checks the cache first. If the data is there, it's a 'cache hit'—this is very fast. If the data isn't there, it's a 'cache miss,' and we have to pay a heavy time penalty to go all the way to main memory. Our goal in cache design is to maximize the hit rate."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logic is simple. When the CPU needs data, it checks the cache first. If the data is there, it's a 'cache hit'—this is very fast. If the data isn't there, it's a 'cache miss,' and we have to pay a heavy time penalty to go all the way to main memory. Our goal in cache design is to maximize the hit rate."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logic is simple. When the CPU needs data, it checks the cache first. If the data is there, it's a 'cache hit'—this is very fast. If the data isn't there, it's a 'cache miss,' and we have to pay a heavy time penalty to go all the way to main memory. Our goal in cache design is to maximize the hit rate."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a cache set is full and we have a miss, we have to kick something out. My simulator implements two policies. 'FIFO' is simple: 'first-in, first-out.' 'LRU,' or 'Least Recently Used,' is smarter. It evicts the line that hasn't been touched in the longest time. LRU usually performs better because it respects the idea of temporal locality."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main simulation loop is straightforward. For every single address in the input file, it follows these steps. First, it parses the address to find the right set. Second, it loops through that set, checking for a tag match. If it finds a match, it's a hit, and we're done. If it doesn't find a hit, it's a miss. It then tries to find an empty line. And if the set is full, it calls the replacement policy function—LRU or FIFO—to decide which line to evict."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main simulation loop is straightforward. For every single address in the input file, it follows these steps. First, it parses the address to find the right set. Second, it loops through that set, checking for a tag match. If it finds a match, it's a hit, and we're done. If it doesn't find a hit, it's a miss. It then tries to find an empty line. And if the set is full, it calls the replacement policy function—LRU or FIFO—to decide which line to evict."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0.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8.svg"/><Relationship Id="rId5" Type="http://schemas.openxmlformats.org/officeDocument/2006/relationships/image" Target="../media/image4.svg"/><Relationship Id="rId15" Type="http://schemas.openxmlformats.org/officeDocument/2006/relationships/image" Target="../media/image20.svg"/><Relationship Id="rId10" Type="http://schemas.openxmlformats.org/officeDocument/2006/relationships/image" Target="../media/image17.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9.png"/></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8.svg"/><Relationship Id="rId2" Type="http://schemas.openxmlformats.org/officeDocument/2006/relationships/notesSlide" Target="../notesSlides/notesSlide1.xml"/><Relationship Id="rId16" Type="http://schemas.openxmlformats.org/officeDocument/2006/relationships/image" Target="../media/image22.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17.png"/><Relationship Id="rId5" Type="http://schemas.openxmlformats.org/officeDocument/2006/relationships/image" Target="../media/image3.png"/><Relationship Id="rId15" Type="http://schemas.openxmlformats.org/officeDocument/2006/relationships/image" Target="../media/image21.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2.xml"/><Relationship Id="rId16"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5.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24.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4.svg"/><Relationship Id="rId2" Type="http://schemas.openxmlformats.org/officeDocument/2006/relationships/notesSlide" Target="../notesSlides/notesSlide3.xml"/><Relationship Id="rId16"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3.png"/><Relationship Id="rId5" Type="http://schemas.openxmlformats.org/officeDocument/2006/relationships/image" Target="../media/image3.png"/><Relationship Id="rId15" Type="http://schemas.openxmlformats.org/officeDocument/2006/relationships/image" Target="../media/image27.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4.svg"/><Relationship Id="rId2" Type="http://schemas.openxmlformats.org/officeDocument/2006/relationships/notesSlide" Target="../notesSlides/notesSlide4.xml"/><Relationship Id="rId16"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3.png"/><Relationship Id="rId5" Type="http://schemas.openxmlformats.org/officeDocument/2006/relationships/image" Target="../media/image3.png"/><Relationship Id="rId15" Type="http://schemas.openxmlformats.org/officeDocument/2006/relationships/image" Target="../media/image9.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26.svg"/></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4.svg"/><Relationship Id="rId2" Type="http://schemas.openxmlformats.org/officeDocument/2006/relationships/notesSlide" Target="../notesSlides/notesSlide5.xml"/><Relationship Id="rId16"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3.png"/><Relationship Id="rId5" Type="http://schemas.openxmlformats.org/officeDocument/2006/relationships/image" Target="../media/image3.png"/><Relationship Id="rId15" Type="http://schemas.openxmlformats.org/officeDocument/2006/relationships/image" Target="../media/image9.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26.sv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4.svg"/><Relationship Id="rId2" Type="http://schemas.openxmlformats.org/officeDocument/2006/relationships/notesSlide" Target="../notesSlides/notesSlide6.xml"/><Relationship Id="rId16"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3.png"/><Relationship Id="rId5" Type="http://schemas.openxmlformats.org/officeDocument/2006/relationships/image" Target="../media/image3.png"/><Relationship Id="rId15" Type="http://schemas.openxmlformats.org/officeDocument/2006/relationships/image" Target="../media/image9.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26.sv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4.svg"/><Relationship Id="rId2" Type="http://schemas.openxmlformats.org/officeDocument/2006/relationships/notesSlide" Target="../notesSlides/notesSlide7.xml"/><Relationship Id="rId16"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3.png"/><Relationship Id="rId5" Type="http://schemas.openxmlformats.org/officeDocument/2006/relationships/image" Target="../media/image3.png"/><Relationship Id="rId15" Type="http://schemas.openxmlformats.org/officeDocument/2006/relationships/image" Target="../media/image9.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26.svg"/></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4.svg"/><Relationship Id="rId2" Type="http://schemas.openxmlformats.org/officeDocument/2006/relationships/notesSlide" Target="../notesSlides/notesSlide8.xml"/><Relationship Id="rId16"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3.png"/><Relationship Id="rId5" Type="http://schemas.openxmlformats.org/officeDocument/2006/relationships/image" Target="../media/image3.png"/><Relationship Id="rId15" Type="http://schemas.openxmlformats.org/officeDocument/2006/relationships/image" Target="../media/image9.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26.svg"/></Relationships>
</file>

<file path=ppt/slides/_rels/slide1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4.svg"/><Relationship Id="rId2" Type="http://schemas.openxmlformats.org/officeDocument/2006/relationships/notesSlide" Target="../notesSlides/notesSlide9.xml"/><Relationship Id="rId16"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3.png"/><Relationship Id="rId5" Type="http://schemas.openxmlformats.org/officeDocument/2006/relationships/image" Target="../media/image3.png"/><Relationship Id="rId15" Type="http://schemas.openxmlformats.org/officeDocument/2006/relationships/image" Target="../media/image9.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26.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30.svg"/><Relationship Id="rId5" Type="http://schemas.openxmlformats.org/officeDocument/2006/relationships/image" Target="../media/image4.svg"/><Relationship Id="rId10" Type="http://schemas.openxmlformats.org/officeDocument/2006/relationships/image" Target="../media/image29.png"/><Relationship Id="rId4" Type="http://schemas.openxmlformats.org/officeDocument/2006/relationships/image" Target="../media/image3.png"/><Relationship Id="rId9" Type="http://schemas.openxmlformats.org/officeDocument/2006/relationships/image" Target="../media/image8.sv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34.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33.png"/><Relationship Id="rId2" Type="http://schemas.openxmlformats.org/officeDocument/2006/relationships/image" Target="../media/image1.png"/><Relationship Id="rId16" Type="http://schemas.openxmlformats.org/officeDocument/2006/relationships/hyperlink" Target="https://mail.google.com/mail/?view=cm&amp;fs=1&amp;to=ahmedyar.info@gmail.com&amp;su=Hello%20from%20the%20website&amp;body=Hi%20there%2C%0A%0AI%20wanted%20to%20ask%20..." TargetMode="Externa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32.svg"/><Relationship Id="rId5" Type="http://schemas.openxmlformats.org/officeDocument/2006/relationships/image" Target="../media/image4.svg"/><Relationship Id="rId15" Type="http://schemas.openxmlformats.org/officeDocument/2006/relationships/hyperlink" Target="https://github.com/ahmedyar7" TargetMode="External"/><Relationship Id="rId10" Type="http://schemas.openxmlformats.org/officeDocument/2006/relationships/image" Target="../media/image31.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hyperlink" Target="https://ahmedyar.vercel.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613"/>
            <a:ext cx="17470132" cy="7544923"/>
            <a:chOff x="0" y="0"/>
            <a:chExt cx="4601187" cy="1987140"/>
          </a:xfrm>
        </p:grpSpPr>
        <p:sp>
          <p:nvSpPr>
            <p:cNvPr id="6" name="Freeform 6"/>
            <p:cNvSpPr/>
            <p:nvPr/>
          </p:nvSpPr>
          <p:spPr>
            <a:xfrm>
              <a:off x="0" y="0"/>
              <a:ext cx="4601187" cy="1987140"/>
            </a:xfrm>
            <a:custGeom>
              <a:avLst/>
              <a:gdLst/>
              <a:ahLst/>
              <a:cxnLst/>
              <a:rect l="l" t="t" r="r" b="b"/>
              <a:pathLst>
                <a:path w="4601187" h="1987140">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187" cy="203476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135508" y="9193555"/>
            <a:ext cx="1271608" cy="652980"/>
            <a:chOff x="0" y="0"/>
            <a:chExt cx="334909" cy="171978"/>
          </a:xfrm>
        </p:grpSpPr>
        <p:sp>
          <p:nvSpPr>
            <p:cNvPr id="15" name="Freeform 15"/>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16" name="TextBox 16"/>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408934"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17123917" y="9193555"/>
            <a:ext cx="755149" cy="652980"/>
            <a:chOff x="0" y="0"/>
            <a:chExt cx="198887" cy="171978"/>
          </a:xfrm>
        </p:grpSpPr>
        <p:sp>
          <p:nvSpPr>
            <p:cNvPr id="21" name="Freeform 21"/>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22" name="TextBox 22"/>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3" name="Freeform 23"/>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4" name="Freeform 24"/>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5" name="TextBox 25"/>
          <p:cNvSpPr txBox="1"/>
          <p:nvPr/>
        </p:nvSpPr>
        <p:spPr>
          <a:xfrm>
            <a:off x="1688263" y="4375133"/>
            <a:ext cx="14911475" cy="1867896"/>
          </a:xfrm>
          <a:prstGeom prst="rect">
            <a:avLst/>
          </a:prstGeom>
        </p:spPr>
        <p:txBody>
          <a:bodyPr lIns="0" tIns="0" rIns="0" bIns="0" rtlCol="0" anchor="t">
            <a:spAutoFit/>
          </a:bodyPr>
          <a:lstStyle/>
          <a:p>
            <a:pPr algn="ctr">
              <a:lnSpc>
                <a:spcPts val="13914"/>
              </a:lnSpc>
            </a:pPr>
            <a:r>
              <a:rPr lang="en-US" sz="13914" b="1" spc="-473">
                <a:solidFill>
                  <a:srgbClr val="0057CC"/>
                </a:solidFill>
                <a:latin typeface="Anonymous Pro Bold"/>
                <a:ea typeface="Anonymous Pro Bold"/>
                <a:cs typeface="Anonymous Pro Bold"/>
                <a:sym typeface="Anonymous Pro Bold"/>
              </a:rPr>
              <a:t>CACHE SIMULATOR</a:t>
            </a:r>
          </a:p>
        </p:txBody>
      </p:sp>
      <p:sp>
        <p:nvSpPr>
          <p:cNvPr id="26" name="Freeform 26"/>
          <p:cNvSpPr/>
          <p:nvPr/>
        </p:nvSpPr>
        <p:spPr>
          <a:xfrm>
            <a:off x="14227883" y="5926714"/>
            <a:ext cx="765682" cy="1303792"/>
          </a:xfrm>
          <a:custGeom>
            <a:avLst/>
            <a:gdLst/>
            <a:ahLst/>
            <a:cxnLst/>
            <a:rect l="l" t="t" r="r" b="b"/>
            <a:pathLst>
              <a:path w="765682" h="1303792">
                <a:moveTo>
                  <a:pt x="0" y="0"/>
                </a:moveTo>
                <a:lnTo>
                  <a:pt x="765682" y="0"/>
                </a:lnTo>
                <a:lnTo>
                  <a:pt x="765682" y="1303792"/>
                </a:lnTo>
                <a:lnTo>
                  <a:pt x="0" y="130379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27" name="Freeform 27"/>
          <p:cNvSpPr/>
          <p:nvPr/>
        </p:nvSpPr>
        <p:spPr>
          <a:xfrm>
            <a:off x="8082106" y="7535217"/>
            <a:ext cx="2123787" cy="586938"/>
          </a:xfrm>
          <a:custGeom>
            <a:avLst/>
            <a:gdLst/>
            <a:ahLst/>
            <a:cxnLst/>
            <a:rect l="l" t="t" r="r" b="b"/>
            <a:pathLst>
              <a:path w="2123787" h="586938">
                <a:moveTo>
                  <a:pt x="0" y="0"/>
                </a:moveTo>
                <a:lnTo>
                  <a:pt x="2123788" y="0"/>
                </a:lnTo>
                <a:lnTo>
                  <a:pt x="2123788" y="586938"/>
                </a:lnTo>
                <a:lnTo>
                  <a:pt x="0" y="58693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sp>
        <p:nvSpPr>
          <p:cNvPr id="28" name="TextBox 28"/>
          <p:cNvSpPr txBox="1"/>
          <p:nvPr/>
        </p:nvSpPr>
        <p:spPr>
          <a:xfrm>
            <a:off x="6352676" y="3606893"/>
            <a:ext cx="5582648" cy="520590"/>
          </a:xfrm>
          <a:prstGeom prst="rect">
            <a:avLst/>
          </a:prstGeom>
        </p:spPr>
        <p:txBody>
          <a:bodyPr lIns="0" tIns="0" rIns="0" bIns="0" rtlCol="0" anchor="t">
            <a:spAutoFit/>
          </a:bodyPr>
          <a:lstStyle/>
          <a:p>
            <a:pPr algn="ctr">
              <a:lnSpc>
                <a:spcPts val="3818"/>
              </a:lnSpc>
            </a:pPr>
            <a:r>
              <a:rPr lang="en-US" sz="3818">
                <a:solidFill>
                  <a:srgbClr val="000000"/>
                </a:solidFill>
                <a:latin typeface="Cousine"/>
                <a:ea typeface="Cousine"/>
                <a:cs typeface="Cousine"/>
                <a:sym typeface="Cousine"/>
              </a:rPr>
              <a:t>Introduction to</a:t>
            </a:r>
          </a:p>
        </p:txBody>
      </p:sp>
      <p:sp>
        <p:nvSpPr>
          <p:cNvPr id="29" name="TextBox 29"/>
          <p:cNvSpPr txBox="1"/>
          <p:nvPr/>
        </p:nvSpPr>
        <p:spPr>
          <a:xfrm>
            <a:off x="4270793" y="6502410"/>
            <a:ext cx="9746415" cy="650547"/>
          </a:xfrm>
          <a:prstGeom prst="rect">
            <a:avLst/>
          </a:prstGeom>
        </p:spPr>
        <p:txBody>
          <a:bodyPr lIns="0" tIns="0" rIns="0" bIns="0" rtlCol="0" anchor="t">
            <a:spAutoFit/>
          </a:bodyPr>
          <a:lstStyle/>
          <a:p>
            <a:pPr algn="ctr">
              <a:lnSpc>
                <a:spcPts val="5296"/>
              </a:lnSpc>
            </a:pPr>
            <a:r>
              <a:rPr lang="en-US" sz="3783" spc="431">
                <a:solidFill>
                  <a:srgbClr val="000000"/>
                </a:solidFill>
                <a:latin typeface="Cousine"/>
                <a:ea typeface="Cousine"/>
                <a:cs typeface="Cousine"/>
                <a:sym typeface="Cousine"/>
              </a:rPr>
              <a:t>UNDERSTANDING THE BASICS</a:t>
            </a:r>
          </a:p>
        </p:txBody>
      </p:sp>
      <p:sp>
        <p:nvSpPr>
          <p:cNvPr id="30" name="TextBox 30"/>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Architecure</a:t>
            </a:r>
          </a:p>
        </p:txBody>
      </p:sp>
      <p:sp>
        <p:nvSpPr>
          <p:cNvPr id="31" name="TextBox 31"/>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b="1" spc="222">
                <a:solidFill>
                  <a:srgbClr val="000000"/>
                </a:solidFill>
                <a:latin typeface="Cousine Bold"/>
                <a:ea typeface="Cousine Bold"/>
                <a:cs typeface="Cousine Bold"/>
                <a:sym typeface="Cousine Bold"/>
              </a:rPr>
              <a:t>Home</a:t>
            </a:r>
          </a:p>
        </p:txBody>
      </p:sp>
      <p:sp>
        <p:nvSpPr>
          <p:cNvPr id="32" name="TextBox 32"/>
          <p:cNvSpPr txBox="1"/>
          <p:nvPr/>
        </p:nvSpPr>
        <p:spPr>
          <a:xfrm>
            <a:off x="2544931"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Content</a:t>
            </a:r>
          </a:p>
        </p:txBody>
      </p:sp>
      <p:sp>
        <p:nvSpPr>
          <p:cNvPr id="33" name="TextBox 33"/>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id="34" name="Freeform 34"/>
          <p:cNvSpPr/>
          <p:nvPr/>
        </p:nvSpPr>
        <p:spPr>
          <a:xfrm>
            <a:off x="16215716" y="2886959"/>
            <a:ext cx="1043584" cy="1325568"/>
          </a:xfrm>
          <a:custGeom>
            <a:avLst/>
            <a:gdLst/>
            <a:ahLst/>
            <a:cxnLst/>
            <a:rect l="l" t="t" r="r" b="b"/>
            <a:pathLst>
              <a:path w="1043584" h="1325568">
                <a:moveTo>
                  <a:pt x="0" y="0"/>
                </a:moveTo>
                <a:lnTo>
                  <a:pt x="1043584" y="0"/>
                </a:lnTo>
                <a:lnTo>
                  <a:pt x="1043584" y="1325568"/>
                </a:lnTo>
                <a:lnTo>
                  <a:pt x="0" y="132556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GB"/>
          </a:p>
        </p:txBody>
      </p:sp>
      <p:sp>
        <p:nvSpPr>
          <p:cNvPr id="35" name="Freeform 35"/>
          <p:cNvSpPr/>
          <p:nvPr/>
        </p:nvSpPr>
        <p:spPr>
          <a:xfrm>
            <a:off x="1192688" y="7535217"/>
            <a:ext cx="1067908" cy="817435"/>
          </a:xfrm>
          <a:custGeom>
            <a:avLst/>
            <a:gdLst/>
            <a:ahLst/>
            <a:cxnLst/>
            <a:rect l="l" t="t" r="r" b="b"/>
            <a:pathLst>
              <a:path w="1067908" h="817435">
                <a:moveTo>
                  <a:pt x="0" y="0"/>
                </a:moveTo>
                <a:lnTo>
                  <a:pt x="1067908" y="0"/>
                </a:lnTo>
                <a:lnTo>
                  <a:pt x="1067908" y="817436"/>
                </a:lnTo>
                <a:lnTo>
                  <a:pt x="0" y="81743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613"/>
            <a:ext cx="17470132" cy="7544923"/>
            <a:chOff x="0" y="0"/>
            <a:chExt cx="4601187" cy="1987140"/>
          </a:xfrm>
        </p:grpSpPr>
        <p:sp>
          <p:nvSpPr>
            <p:cNvPr id="6" name="Freeform 6"/>
            <p:cNvSpPr/>
            <p:nvPr/>
          </p:nvSpPr>
          <p:spPr>
            <a:xfrm>
              <a:off x="0" y="0"/>
              <a:ext cx="4601187" cy="1987140"/>
            </a:xfrm>
            <a:custGeom>
              <a:avLst/>
              <a:gdLst/>
              <a:ahLst/>
              <a:cxnLst/>
              <a:rect l="l" t="t" r="r" b="b"/>
              <a:pathLst>
                <a:path w="4601187" h="1987140">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187" cy="203476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408934" y="9193555"/>
            <a:ext cx="755149" cy="652980"/>
            <a:chOff x="0" y="0"/>
            <a:chExt cx="198887" cy="171978"/>
          </a:xfrm>
        </p:grpSpPr>
        <p:sp>
          <p:nvSpPr>
            <p:cNvPr id="15" name="Freeform 15"/>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6" name="TextBox 16"/>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7123917"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1" name="Freeform 21"/>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2" name="Freeform 22"/>
          <p:cNvSpPr/>
          <p:nvPr/>
        </p:nvSpPr>
        <p:spPr>
          <a:xfrm>
            <a:off x="2310814" y="4102411"/>
            <a:ext cx="5798369" cy="3088949"/>
          </a:xfrm>
          <a:custGeom>
            <a:avLst/>
            <a:gdLst/>
            <a:ahLst/>
            <a:cxnLst/>
            <a:rect l="l" t="t" r="r" b="b"/>
            <a:pathLst>
              <a:path w="5798369" h="3088949">
                <a:moveTo>
                  <a:pt x="0" y="0"/>
                </a:moveTo>
                <a:lnTo>
                  <a:pt x="5798370" y="0"/>
                </a:lnTo>
                <a:lnTo>
                  <a:pt x="5798370" y="3088950"/>
                </a:lnTo>
                <a:lnTo>
                  <a:pt x="0" y="30889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23" name="Freeform 23"/>
          <p:cNvSpPr/>
          <p:nvPr/>
        </p:nvSpPr>
        <p:spPr>
          <a:xfrm>
            <a:off x="7336807" y="6800504"/>
            <a:ext cx="640554" cy="1090726"/>
          </a:xfrm>
          <a:custGeom>
            <a:avLst/>
            <a:gdLst/>
            <a:ahLst/>
            <a:cxnLst/>
            <a:rect l="l" t="t" r="r" b="b"/>
            <a:pathLst>
              <a:path w="640554" h="1090726">
                <a:moveTo>
                  <a:pt x="0" y="0"/>
                </a:moveTo>
                <a:lnTo>
                  <a:pt x="640553" y="0"/>
                </a:lnTo>
                <a:lnTo>
                  <a:pt x="640553" y="1090726"/>
                </a:lnTo>
                <a:lnTo>
                  <a:pt x="0" y="109072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sp>
        <p:nvSpPr>
          <p:cNvPr id="24" name="TextBox 24"/>
          <p:cNvSpPr txBox="1"/>
          <p:nvPr/>
        </p:nvSpPr>
        <p:spPr>
          <a:xfrm>
            <a:off x="2442638" y="4910249"/>
            <a:ext cx="5534722" cy="1701874"/>
          </a:xfrm>
          <a:prstGeom prst="rect">
            <a:avLst/>
          </a:prstGeom>
        </p:spPr>
        <p:txBody>
          <a:bodyPr lIns="0" tIns="0" rIns="0" bIns="0" rtlCol="0" anchor="t">
            <a:spAutoFit/>
          </a:bodyPr>
          <a:lstStyle/>
          <a:p>
            <a:pPr algn="ctr">
              <a:lnSpc>
                <a:spcPts val="6307"/>
              </a:lnSpc>
            </a:pPr>
            <a:r>
              <a:rPr lang="en-US" sz="7420" b="1" spc="-252">
                <a:solidFill>
                  <a:srgbClr val="000000"/>
                </a:solidFill>
                <a:latin typeface="Anonymous Pro Bold"/>
                <a:ea typeface="Anonymous Pro Bold"/>
                <a:cs typeface="Anonymous Pro Bold"/>
                <a:sym typeface="Anonymous Pro Bold"/>
              </a:rPr>
              <a:t>CACHE MEMORY</a:t>
            </a:r>
          </a:p>
        </p:txBody>
      </p:sp>
      <p:sp>
        <p:nvSpPr>
          <p:cNvPr id="25" name="TextBox 25"/>
          <p:cNvSpPr txBox="1"/>
          <p:nvPr/>
        </p:nvSpPr>
        <p:spPr>
          <a:xfrm>
            <a:off x="8855916" y="4205348"/>
            <a:ext cx="7121270" cy="3068566"/>
          </a:xfrm>
          <a:prstGeom prst="rect">
            <a:avLst/>
          </a:prstGeom>
        </p:spPr>
        <p:txBody>
          <a:bodyPr lIns="0" tIns="0" rIns="0" bIns="0" rtlCol="0" anchor="t">
            <a:spAutoFit/>
          </a:bodyPr>
          <a:lstStyle/>
          <a:p>
            <a:pPr algn="just">
              <a:lnSpc>
                <a:spcPts val="3485"/>
              </a:lnSpc>
            </a:pPr>
            <a:r>
              <a:rPr lang="en-US" sz="2788">
                <a:solidFill>
                  <a:srgbClr val="000000"/>
                </a:solidFill>
                <a:latin typeface="Cousine"/>
                <a:ea typeface="Cousine"/>
                <a:cs typeface="Cousine"/>
                <a:sym typeface="Cousine"/>
              </a:rPr>
              <a:t>Cache memory is a small, very fast memory that stores frequently accessed data, allowing your computer's main processor (CPU) to access it much more quickly than from the main memory (RAM)</a:t>
            </a:r>
          </a:p>
        </p:txBody>
      </p:sp>
      <p:sp>
        <p:nvSpPr>
          <p:cNvPr id="26" name="TextBox 26"/>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27" name="TextBox 27"/>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28" name="TextBox 28"/>
          <p:cNvSpPr txBox="1"/>
          <p:nvPr/>
        </p:nvSpPr>
        <p:spPr>
          <a:xfrm>
            <a:off x="2544931"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Content</a:t>
            </a:r>
          </a:p>
        </p:txBody>
      </p:sp>
      <p:sp>
        <p:nvSpPr>
          <p:cNvPr id="29" name="TextBox 29"/>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grpSp>
        <p:nvGrpSpPr>
          <p:cNvPr id="30" name="Group 30"/>
          <p:cNvGrpSpPr/>
          <p:nvPr/>
        </p:nvGrpSpPr>
        <p:grpSpPr>
          <a:xfrm>
            <a:off x="2889550" y="9193555"/>
            <a:ext cx="1271608" cy="652980"/>
            <a:chOff x="0" y="0"/>
            <a:chExt cx="334909" cy="171978"/>
          </a:xfrm>
        </p:grpSpPr>
        <p:sp>
          <p:nvSpPr>
            <p:cNvPr id="31" name="Freeform 31"/>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32" name="TextBox 32"/>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sp>
        <p:nvSpPr>
          <p:cNvPr id="33" name="Freeform 33"/>
          <p:cNvSpPr/>
          <p:nvPr/>
        </p:nvSpPr>
        <p:spPr>
          <a:xfrm>
            <a:off x="2248201" y="3354967"/>
            <a:ext cx="800397" cy="1247078"/>
          </a:xfrm>
          <a:custGeom>
            <a:avLst/>
            <a:gdLst/>
            <a:ahLst/>
            <a:cxnLst/>
            <a:rect l="l" t="t" r="r" b="b"/>
            <a:pathLst>
              <a:path w="800397" h="1247078">
                <a:moveTo>
                  <a:pt x="0" y="0"/>
                </a:moveTo>
                <a:lnTo>
                  <a:pt x="800397" y="0"/>
                </a:lnTo>
                <a:lnTo>
                  <a:pt x="800397" y="1247078"/>
                </a:lnTo>
                <a:lnTo>
                  <a:pt x="0" y="124707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613"/>
            <a:ext cx="17470132" cy="7544923"/>
            <a:chOff x="0" y="0"/>
            <a:chExt cx="4601187" cy="1987140"/>
          </a:xfrm>
        </p:grpSpPr>
        <p:sp>
          <p:nvSpPr>
            <p:cNvPr id="6" name="Freeform 6"/>
            <p:cNvSpPr/>
            <p:nvPr/>
          </p:nvSpPr>
          <p:spPr>
            <a:xfrm>
              <a:off x="0" y="0"/>
              <a:ext cx="4601187" cy="1987140"/>
            </a:xfrm>
            <a:custGeom>
              <a:avLst/>
              <a:gdLst/>
              <a:ahLst/>
              <a:cxnLst/>
              <a:rect l="l" t="t" r="r" b="b"/>
              <a:pathLst>
                <a:path w="4601187" h="1987140">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187" cy="203476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408934" y="9193555"/>
            <a:ext cx="755149" cy="652980"/>
            <a:chOff x="0" y="0"/>
            <a:chExt cx="198887" cy="171978"/>
          </a:xfrm>
        </p:grpSpPr>
        <p:sp>
          <p:nvSpPr>
            <p:cNvPr id="15" name="Freeform 15"/>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6" name="TextBox 16"/>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7123917"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1" name="Freeform 21"/>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2" name="Freeform 22"/>
          <p:cNvSpPr/>
          <p:nvPr/>
        </p:nvSpPr>
        <p:spPr>
          <a:xfrm>
            <a:off x="9280209" y="4198412"/>
            <a:ext cx="5912171" cy="3149575"/>
          </a:xfrm>
          <a:custGeom>
            <a:avLst/>
            <a:gdLst/>
            <a:ahLst/>
            <a:cxnLst/>
            <a:rect l="l" t="t" r="r" b="b"/>
            <a:pathLst>
              <a:path w="5912171" h="3149575">
                <a:moveTo>
                  <a:pt x="0" y="0"/>
                </a:moveTo>
                <a:lnTo>
                  <a:pt x="5912172" y="0"/>
                </a:lnTo>
                <a:lnTo>
                  <a:pt x="5912172" y="3149575"/>
                </a:lnTo>
                <a:lnTo>
                  <a:pt x="0" y="314957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23" name="Freeform 23"/>
          <p:cNvSpPr/>
          <p:nvPr/>
        </p:nvSpPr>
        <p:spPr>
          <a:xfrm>
            <a:off x="9683415" y="6934002"/>
            <a:ext cx="640554" cy="1090726"/>
          </a:xfrm>
          <a:custGeom>
            <a:avLst/>
            <a:gdLst/>
            <a:ahLst/>
            <a:cxnLst/>
            <a:rect l="l" t="t" r="r" b="b"/>
            <a:pathLst>
              <a:path w="640554" h="1090726">
                <a:moveTo>
                  <a:pt x="0" y="0"/>
                </a:moveTo>
                <a:lnTo>
                  <a:pt x="640553" y="0"/>
                </a:lnTo>
                <a:lnTo>
                  <a:pt x="640553" y="1090725"/>
                </a:lnTo>
                <a:lnTo>
                  <a:pt x="0" y="109072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24" name="TextBox 24"/>
          <p:cNvSpPr txBox="1"/>
          <p:nvPr/>
        </p:nvSpPr>
        <p:spPr>
          <a:xfrm>
            <a:off x="9403022" y="5249096"/>
            <a:ext cx="5666546" cy="1684905"/>
          </a:xfrm>
          <a:prstGeom prst="rect">
            <a:avLst/>
          </a:prstGeom>
        </p:spPr>
        <p:txBody>
          <a:bodyPr lIns="0" tIns="0" rIns="0" bIns="0" rtlCol="0" anchor="t">
            <a:spAutoFit/>
          </a:bodyPr>
          <a:lstStyle/>
          <a:p>
            <a:pPr algn="ctr">
              <a:lnSpc>
                <a:spcPts val="6370"/>
              </a:lnSpc>
            </a:pPr>
            <a:r>
              <a:rPr lang="en-US" sz="7494" b="1" spc="-254">
                <a:solidFill>
                  <a:srgbClr val="B63524"/>
                </a:solidFill>
                <a:latin typeface="Anonymous Pro Bold"/>
                <a:ea typeface="Anonymous Pro Bold"/>
                <a:cs typeface="Anonymous Pro Bold"/>
                <a:sym typeface="Anonymous Pro Bold"/>
              </a:rPr>
              <a:t>THE "MEMORY WALL"</a:t>
            </a:r>
          </a:p>
        </p:txBody>
      </p:sp>
      <p:sp>
        <p:nvSpPr>
          <p:cNvPr id="25" name="TextBox 25"/>
          <p:cNvSpPr txBox="1"/>
          <p:nvPr/>
        </p:nvSpPr>
        <p:spPr>
          <a:xfrm>
            <a:off x="1192688" y="3406718"/>
            <a:ext cx="7640424" cy="4461285"/>
          </a:xfrm>
          <a:prstGeom prst="rect">
            <a:avLst/>
          </a:prstGeom>
        </p:spPr>
        <p:txBody>
          <a:bodyPr lIns="0" tIns="0" rIns="0" bIns="0" rtlCol="0" anchor="t">
            <a:spAutoFit/>
          </a:bodyPr>
          <a:lstStyle/>
          <a:p>
            <a:pPr marL="515691" lvl="1" indent="-257845" algn="just">
              <a:lnSpc>
                <a:spcPts val="2985"/>
              </a:lnSpc>
              <a:buFont typeface="Arial"/>
              <a:buChar char="•"/>
            </a:pPr>
            <a:r>
              <a:rPr lang="en-US" sz="2388" b="1">
                <a:solidFill>
                  <a:srgbClr val="000000"/>
                </a:solidFill>
                <a:latin typeface="Cousine Bold"/>
                <a:ea typeface="Cousine Bold"/>
                <a:cs typeface="Cousine Bold"/>
                <a:sym typeface="Cousine Bold"/>
              </a:rPr>
              <a:t>The Problem:</a:t>
            </a:r>
            <a:r>
              <a:rPr lang="en-US" sz="2388">
                <a:solidFill>
                  <a:srgbClr val="000000"/>
                </a:solidFill>
                <a:latin typeface="Cousine"/>
                <a:ea typeface="Cousine"/>
                <a:cs typeface="Cousine"/>
                <a:sym typeface="Cousine"/>
              </a:rPr>
              <a:t> CPUs are much, much faster than main memory (DRAM).</a:t>
            </a:r>
          </a:p>
          <a:p>
            <a:pPr algn="just">
              <a:lnSpc>
                <a:spcPts val="2985"/>
              </a:lnSpc>
            </a:pPr>
            <a:endParaRPr lang="en-US" sz="2388">
              <a:solidFill>
                <a:srgbClr val="000000"/>
              </a:solidFill>
              <a:latin typeface="Cousine"/>
              <a:ea typeface="Cousine"/>
              <a:cs typeface="Cousine"/>
              <a:sym typeface="Cousine"/>
            </a:endParaRPr>
          </a:p>
          <a:p>
            <a:pPr marL="515691" lvl="1" indent="-257845" algn="just">
              <a:lnSpc>
                <a:spcPts val="2985"/>
              </a:lnSpc>
              <a:buFont typeface="Arial"/>
              <a:buChar char="•"/>
            </a:pPr>
            <a:r>
              <a:rPr lang="en-US" sz="2388">
                <a:solidFill>
                  <a:srgbClr val="000000"/>
                </a:solidFill>
                <a:latin typeface="Cousine"/>
                <a:ea typeface="Cousine"/>
                <a:cs typeface="Cousine"/>
                <a:sym typeface="Cousine"/>
              </a:rPr>
              <a:t>This performance gap is called the "</a:t>
            </a:r>
            <a:r>
              <a:rPr lang="en-US" sz="2388">
                <a:solidFill>
                  <a:srgbClr val="B63524"/>
                </a:solidFill>
                <a:latin typeface="Cousine"/>
                <a:ea typeface="Cousine"/>
                <a:cs typeface="Cousine"/>
                <a:sym typeface="Cousine"/>
              </a:rPr>
              <a:t>Memory Wall.</a:t>
            </a:r>
            <a:r>
              <a:rPr lang="en-US" sz="2388">
                <a:solidFill>
                  <a:srgbClr val="000000"/>
                </a:solidFill>
                <a:latin typeface="Cousine"/>
                <a:ea typeface="Cousine"/>
                <a:cs typeface="Cousine"/>
                <a:sym typeface="Cousine"/>
              </a:rPr>
              <a:t>"</a:t>
            </a:r>
          </a:p>
          <a:p>
            <a:pPr algn="just">
              <a:lnSpc>
                <a:spcPts val="2985"/>
              </a:lnSpc>
            </a:pPr>
            <a:endParaRPr lang="en-US" sz="2388">
              <a:solidFill>
                <a:srgbClr val="000000"/>
              </a:solidFill>
              <a:latin typeface="Cousine"/>
              <a:ea typeface="Cousine"/>
              <a:cs typeface="Cousine"/>
              <a:sym typeface="Cousine"/>
            </a:endParaRPr>
          </a:p>
          <a:p>
            <a:pPr marL="515691" lvl="1" indent="-257845" algn="just">
              <a:lnSpc>
                <a:spcPts val="2985"/>
              </a:lnSpc>
              <a:buFont typeface="Arial"/>
              <a:buChar char="•"/>
            </a:pPr>
            <a:r>
              <a:rPr lang="en-US" sz="2388">
                <a:solidFill>
                  <a:srgbClr val="000000"/>
                </a:solidFill>
                <a:latin typeface="Cousine"/>
                <a:ea typeface="Cousine"/>
                <a:cs typeface="Cousine"/>
                <a:sym typeface="Cousine"/>
              </a:rPr>
              <a:t>The CPU spends most of its time idling and waiting for data.</a:t>
            </a:r>
          </a:p>
          <a:p>
            <a:pPr algn="just">
              <a:lnSpc>
                <a:spcPts val="2985"/>
              </a:lnSpc>
            </a:pPr>
            <a:endParaRPr lang="en-US" sz="2388">
              <a:solidFill>
                <a:srgbClr val="000000"/>
              </a:solidFill>
              <a:latin typeface="Cousine"/>
              <a:ea typeface="Cousine"/>
              <a:cs typeface="Cousine"/>
              <a:sym typeface="Cousine"/>
            </a:endParaRPr>
          </a:p>
          <a:p>
            <a:pPr marL="515691" lvl="1" indent="-257845" algn="just">
              <a:lnSpc>
                <a:spcPts val="2985"/>
              </a:lnSpc>
              <a:buFont typeface="Arial"/>
              <a:buChar char="•"/>
            </a:pPr>
            <a:r>
              <a:rPr lang="en-US" sz="2388" b="1">
                <a:solidFill>
                  <a:srgbClr val="0057CC"/>
                </a:solidFill>
                <a:latin typeface="Cousine Bold"/>
                <a:ea typeface="Cousine Bold"/>
                <a:cs typeface="Cousine Bold"/>
                <a:sym typeface="Cousine Bold"/>
              </a:rPr>
              <a:t>The Solution:</a:t>
            </a:r>
            <a:r>
              <a:rPr lang="en-US" sz="2388">
                <a:solidFill>
                  <a:srgbClr val="000000"/>
                </a:solidFill>
                <a:latin typeface="Cousine"/>
                <a:ea typeface="Cousine"/>
                <a:cs typeface="Cousine"/>
                <a:sym typeface="Cousine"/>
              </a:rPr>
              <a:t> Use a small, fast "cache" to hold frequently used data.</a:t>
            </a:r>
          </a:p>
          <a:p>
            <a:pPr algn="just">
              <a:lnSpc>
                <a:spcPts val="2985"/>
              </a:lnSpc>
            </a:pPr>
            <a:endParaRPr lang="en-US" sz="2388">
              <a:solidFill>
                <a:srgbClr val="000000"/>
              </a:solidFill>
              <a:latin typeface="Cousine"/>
              <a:ea typeface="Cousine"/>
              <a:cs typeface="Cousine"/>
              <a:sym typeface="Cousine"/>
            </a:endParaRPr>
          </a:p>
        </p:txBody>
      </p:sp>
      <p:sp>
        <p:nvSpPr>
          <p:cNvPr id="26" name="TextBox 26"/>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27" name="TextBox 27"/>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28" name="TextBox 28"/>
          <p:cNvSpPr txBox="1"/>
          <p:nvPr/>
        </p:nvSpPr>
        <p:spPr>
          <a:xfrm>
            <a:off x="2544931"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Content</a:t>
            </a:r>
          </a:p>
        </p:txBody>
      </p:sp>
      <p:sp>
        <p:nvSpPr>
          <p:cNvPr id="29" name="TextBox 29"/>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grpSp>
        <p:nvGrpSpPr>
          <p:cNvPr id="30" name="Group 30"/>
          <p:cNvGrpSpPr/>
          <p:nvPr/>
        </p:nvGrpSpPr>
        <p:grpSpPr>
          <a:xfrm>
            <a:off x="4073148" y="9193555"/>
            <a:ext cx="1271608" cy="652980"/>
            <a:chOff x="0" y="0"/>
            <a:chExt cx="334909" cy="171978"/>
          </a:xfrm>
        </p:grpSpPr>
        <p:sp>
          <p:nvSpPr>
            <p:cNvPr id="31" name="Freeform 31"/>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32" name="TextBox 32"/>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sp>
        <p:nvSpPr>
          <p:cNvPr id="33" name="Freeform 33"/>
          <p:cNvSpPr/>
          <p:nvPr/>
        </p:nvSpPr>
        <p:spPr>
          <a:xfrm>
            <a:off x="14325841" y="3425768"/>
            <a:ext cx="1241828" cy="1241828"/>
          </a:xfrm>
          <a:custGeom>
            <a:avLst/>
            <a:gdLst/>
            <a:ahLst/>
            <a:cxnLst/>
            <a:rect l="l" t="t" r="r" b="b"/>
            <a:pathLst>
              <a:path w="1241828" h="1241828">
                <a:moveTo>
                  <a:pt x="0" y="0"/>
                </a:moveTo>
                <a:lnTo>
                  <a:pt x="1241828" y="0"/>
                </a:lnTo>
                <a:lnTo>
                  <a:pt x="1241828" y="1241829"/>
                </a:lnTo>
                <a:lnTo>
                  <a:pt x="0" y="124182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100216"/>
            <a:ext cx="17470132" cy="7093339"/>
            <a:chOff x="0" y="0"/>
            <a:chExt cx="4601187" cy="1868204"/>
          </a:xfrm>
        </p:grpSpPr>
        <p:sp>
          <p:nvSpPr>
            <p:cNvPr id="6" name="Freeform 6"/>
            <p:cNvSpPr/>
            <p:nvPr/>
          </p:nvSpPr>
          <p:spPr>
            <a:xfrm>
              <a:off x="0" y="0"/>
              <a:ext cx="4601187" cy="1868205"/>
            </a:xfrm>
            <a:custGeom>
              <a:avLst/>
              <a:gdLst/>
              <a:ahLst/>
              <a:cxnLst/>
              <a:rect l="l" t="t" r="r" b="b"/>
              <a:pathLst>
                <a:path w="4601187" h="1868205">
                  <a:moveTo>
                    <a:pt x="0" y="0"/>
                  </a:moveTo>
                  <a:lnTo>
                    <a:pt x="4601187" y="0"/>
                  </a:lnTo>
                  <a:lnTo>
                    <a:pt x="4601187" y="1868205"/>
                  </a:lnTo>
                  <a:lnTo>
                    <a:pt x="0" y="1868205"/>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187" cy="1915829"/>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408934" y="9193555"/>
            <a:ext cx="755149" cy="652980"/>
            <a:chOff x="0" y="0"/>
            <a:chExt cx="198887" cy="171978"/>
          </a:xfrm>
        </p:grpSpPr>
        <p:sp>
          <p:nvSpPr>
            <p:cNvPr id="15" name="Freeform 15"/>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6" name="TextBox 16"/>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7123917"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1" name="Freeform 21"/>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nvGrpSpPr>
          <p:cNvPr id="22" name="Group 22"/>
          <p:cNvGrpSpPr/>
          <p:nvPr/>
        </p:nvGrpSpPr>
        <p:grpSpPr>
          <a:xfrm>
            <a:off x="7507224" y="9193555"/>
            <a:ext cx="1271608" cy="652980"/>
            <a:chOff x="0" y="0"/>
            <a:chExt cx="334909" cy="171978"/>
          </a:xfrm>
        </p:grpSpPr>
        <p:sp>
          <p:nvSpPr>
            <p:cNvPr id="23" name="Freeform 23"/>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24" name="TextBox 24"/>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6745619" y="5286058"/>
            <a:ext cx="640554" cy="1090726"/>
          </a:xfrm>
          <a:custGeom>
            <a:avLst/>
            <a:gdLst/>
            <a:ahLst/>
            <a:cxnLst/>
            <a:rect l="l" t="t" r="r" b="b"/>
            <a:pathLst>
              <a:path w="640554" h="1090726">
                <a:moveTo>
                  <a:pt x="0" y="0"/>
                </a:moveTo>
                <a:lnTo>
                  <a:pt x="640553" y="0"/>
                </a:lnTo>
                <a:lnTo>
                  <a:pt x="640553" y="1090725"/>
                </a:lnTo>
                <a:lnTo>
                  <a:pt x="0" y="109072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26" name="Freeform 26"/>
          <p:cNvSpPr/>
          <p:nvPr/>
        </p:nvSpPr>
        <p:spPr>
          <a:xfrm>
            <a:off x="5486400" y="3564084"/>
            <a:ext cx="7315200" cy="1582743"/>
          </a:xfrm>
          <a:custGeom>
            <a:avLst/>
            <a:gdLst/>
            <a:ahLst/>
            <a:cxnLst/>
            <a:rect l="l" t="t" r="r" b="b"/>
            <a:pathLst>
              <a:path w="7315200" h="1582743">
                <a:moveTo>
                  <a:pt x="0" y="0"/>
                </a:moveTo>
                <a:lnTo>
                  <a:pt x="7315200" y="0"/>
                </a:lnTo>
                <a:lnTo>
                  <a:pt x="7315200" y="1582743"/>
                </a:lnTo>
                <a:lnTo>
                  <a:pt x="0" y="1582743"/>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GB"/>
          </a:p>
        </p:txBody>
      </p:sp>
      <p:sp>
        <p:nvSpPr>
          <p:cNvPr id="27" name="TextBox 27"/>
          <p:cNvSpPr txBox="1"/>
          <p:nvPr/>
        </p:nvSpPr>
        <p:spPr>
          <a:xfrm>
            <a:off x="5669013" y="4112093"/>
            <a:ext cx="6949975" cy="648649"/>
          </a:xfrm>
          <a:prstGeom prst="rect">
            <a:avLst/>
          </a:prstGeom>
        </p:spPr>
        <p:txBody>
          <a:bodyPr lIns="0" tIns="0" rIns="0" bIns="0" rtlCol="0" anchor="t">
            <a:spAutoFit/>
          </a:bodyPr>
          <a:lstStyle/>
          <a:p>
            <a:pPr algn="ctr">
              <a:lnSpc>
                <a:spcPts val="4571"/>
              </a:lnSpc>
            </a:pPr>
            <a:r>
              <a:rPr lang="en-US" sz="5378" b="1" spc="-182">
                <a:solidFill>
                  <a:srgbClr val="000000"/>
                </a:solidFill>
                <a:latin typeface="Anonymous Pro Bold"/>
                <a:ea typeface="Anonymous Pro Bold"/>
                <a:cs typeface="Anonymous Pro Bold"/>
                <a:sym typeface="Anonymous Pro Bold"/>
              </a:rPr>
              <a:t> PROJECT GOALS</a:t>
            </a:r>
          </a:p>
        </p:txBody>
      </p:sp>
      <p:sp>
        <p:nvSpPr>
          <p:cNvPr id="28" name="Freeform 28"/>
          <p:cNvSpPr/>
          <p:nvPr/>
        </p:nvSpPr>
        <p:spPr>
          <a:xfrm>
            <a:off x="4810484" y="3222702"/>
            <a:ext cx="1166694" cy="1132754"/>
          </a:xfrm>
          <a:custGeom>
            <a:avLst/>
            <a:gdLst/>
            <a:ahLst/>
            <a:cxnLst/>
            <a:rect l="l" t="t" r="r" b="b"/>
            <a:pathLst>
              <a:path w="1166694" h="1132754">
                <a:moveTo>
                  <a:pt x="0" y="0"/>
                </a:moveTo>
                <a:lnTo>
                  <a:pt x="1166694" y="0"/>
                </a:lnTo>
                <a:lnTo>
                  <a:pt x="1166694" y="1132753"/>
                </a:lnTo>
                <a:lnTo>
                  <a:pt x="0" y="113275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29" name="TextBox 29"/>
          <p:cNvSpPr txBox="1"/>
          <p:nvPr/>
        </p:nvSpPr>
        <p:spPr>
          <a:xfrm>
            <a:off x="1164083" y="6045499"/>
            <a:ext cx="5901813" cy="2281385"/>
          </a:xfrm>
          <a:prstGeom prst="rect">
            <a:avLst/>
          </a:prstGeom>
        </p:spPr>
        <p:txBody>
          <a:bodyPr lIns="0" tIns="0" rIns="0" bIns="0" rtlCol="0" anchor="t">
            <a:spAutoFit/>
          </a:bodyPr>
          <a:lstStyle/>
          <a:p>
            <a:pPr algn="just">
              <a:lnSpc>
                <a:spcPts val="3110"/>
              </a:lnSpc>
            </a:pPr>
            <a:r>
              <a:rPr lang="en-US" sz="2488" b="1">
                <a:solidFill>
                  <a:srgbClr val="000000"/>
                </a:solidFill>
                <a:latin typeface="Cousine Bold"/>
                <a:ea typeface="Cousine Bold"/>
                <a:cs typeface="Cousine Bold"/>
                <a:sym typeface="Cousine Bold"/>
              </a:rPr>
              <a:t>Cache Organization</a:t>
            </a:r>
          </a:p>
          <a:p>
            <a:pPr algn="just">
              <a:lnSpc>
                <a:spcPts val="3110"/>
              </a:lnSpc>
            </a:pPr>
            <a:endParaRPr lang="en-US" sz="2488" b="1">
              <a:solidFill>
                <a:srgbClr val="000000"/>
              </a:solidFill>
              <a:latin typeface="Cousine Bold"/>
              <a:ea typeface="Cousine Bold"/>
              <a:cs typeface="Cousine Bold"/>
              <a:sym typeface="Cousine Bold"/>
            </a:endParaRPr>
          </a:p>
          <a:p>
            <a:pPr marL="537280" lvl="1" indent="-268640" algn="just">
              <a:lnSpc>
                <a:spcPts val="3110"/>
              </a:lnSpc>
              <a:buFont typeface="Arial"/>
              <a:buChar char="•"/>
            </a:pPr>
            <a:r>
              <a:rPr lang="en-US" sz="2488">
                <a:solidFill>
                  <a:srgbClr val="000000"/>
                </a:solidFill>
                <a:latin typeface="Cousine"/>
                <a:ea typeface="Cousine"/>
                <a:cs typeface="Cousine"/>
                <a:sym typeface="Cousine"/>
              </a:rPr>
              <a:t>Direct-Mapped</a:t>
            </a:r>
          </a:p>
          <a:p>
            <a:pPr marL="537280" lvl="1" indent="-268640" algn="just">
              <a:lnSpc>
                <a:spcPts val="3110"/>
              </a:lnSpc>
              <a:buFont typeface="Arial"/>
              <a:buChar char="•"/>
            </a:pPr>
            <a:r>
              <a:rPr lang="en-US" sz="2488">
                <a:solidFill>
                  <a:srgbClr val="000000"/>
                </a:solidFill>
                <a:latin typeface="Cousine"/>
                <a:ea typeface="Cousine"/>
                <a:cs typeface="Cousine"/>
                <a:sym typeface="Cousine"/>
              </a:rPr>
              <a:t>N-Way Set-Associative</a:t>
            </a:r>
          </a:p>
          <a:p>
            <a:pPr marL="537280" lvl="1" indent="-268640" algn="just">
              <a:lnSpc>
                <a:spcPts val="3110"/>
              </a:lnSpc>
              <a:buFont typeface="Arial"/>
              <a:buChar char="•"/>
            </a:pPr>
            <a:r>
              <a:rPr lang="en-US" sz="2488">
                <a:solidFill>
                  <a:srgbClr val="000000"/>
                </a:solidFill>
                <a:latin typeface="Cousine"/>
                <a:ea typeface="Cousine"/>
                <a:cs typeface="Cousine"/>
                <a:sym typeface="Cousine"/>
              </a:rPr>
              <a:t>Fully-Associative</a:t>
            </a:r>
          </a:p>
          <a:p>
            <a:pPr algn="just">
              <a:lnSpc>
                <a:spcPts val="2485"/>
              </a:lnSpc>
            </a:pPr>
            <a:endParaRPr lang="en-US" sz="2488">
              <a:solidFill>
                <a:srgbClr val="000000"/>
              </a:solidFill>
              <a:latin typeface="Cousine"/>
              <a:ea typeface="Cousine"/>
              <a:cs typeface="Cousine"/>
              <a:sym typeface="Cousine"/>
            </a:endParaRPr>
          </a:p>
        </p:txBody>
      </p:sp>
      <p:sp>
        <p:nvSpPr>
          <p:cNvPr id="30" name="TextBox 30"/>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31" name="TextBox 31"/>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32" name="TextBox 32"/>
          <p:cNvSpPr txBox="1"/>
          <p:nvPr/>
        </p:nvSpPr>
        <p:spPr>
          <a:xfrm>
            <a:off x="2544931"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Content</a:t>
            </a:r>
          </a:p>
        </p:txBody>
      </p:sp>
      <p:sp>
        <p:nvSpPr>
          <p:cNvPr id="33" name="TextBox 33"/>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id="34" name="TextBox 34"/>
          <p:cNvSpPr txBox="1"/>
          <p:nvPr/>
        </p:nvSpPr>
        <p:spPr>
          <a:xfrm>
            <a:off x="10838140" y="5895903"/>
            <a:ext cx="5901813" cy="1965522"/>
          </a:xfrm>
          <a:prstGeom prst="rect">
            <a:avLst/>
          </a:prstGeom>
        </p:spPr>
        <p:txBody>
          <a:bodyPr lIns="0" tIns="0" rIns="0" bIns="0" rtlCol="0" anchor="t">
            <a:spAutoFit/>
          </a:bodyPr>
          <a:lstStyle/>
          <a:p>
            <a:pPr algn="just">
              <a:lnSpc>
                <a:spcPts val="3110"/>
              </a:lnSpc>
            </a:pPr>
            <a:r>
              <a:rPr lang="en-US" sz="2488" b="1">
                <a:solidFill>
                  <a:srgbClr val="000000"/>
                </a:solidFill>
                <a:latin typeface="Cousine Bold"/>
                <a:ea typeface="Cousine Bold"/>
                <a:cs typeface="Cousine Bold"/>
                <a:sym typeface="Cousine Bold"/>
              </a:rPr>
              <a:t>Replacement Policies:</a:t>
            </a:r>
          </a:p>
          <a:p>
            <a:pPr algn="just">
              <a:lnSpc>
                <a:spcPts val="3110"/>
              </a:lnSpc>
            </a:pPr>
            <a:endParaRPr lang="en-US" sz="2488" b="1">
              <a:solidFill>
                <a:srgbClr val="000000"/>
              </a:solidFill>
              <a:latin typeface="Cousine Bold"/>
              <a:ea typeface="Cousine Bold"/>
              <a:cs typeface="Cousine Bold"/>
              <a:sym typeface="Cousine Bold"/>
            </a:endParaRPr>
          </a:p>
          <a:p>
            <a:pPr marL="537280" lvl="1" indent="-268640" algn="just">
              <a:lnSpc>
                <a:spcPts val="3110"/>
              </a:lnSpc>
              <a:buFont typeface="Arial"/>
              <a:buChar char="•"/>
            </a:pPr>
            <a:r>
              <a:rPr lang="en-US" sz="2488">
                <a:solidFill>
                  <a:srgbClr val="000000"/>
                </a:solidFill>
                <a:latin typeface="Cousine"/>
                <a:ea typeface="Cousine"/>
                <a:cs typeface="Cousine"/>
                <a:sym typeface="Cousine"/>
              </a:rPr>
              <a:t>LRU (Least Recently Used)</a:t>
            </a:r>
          </a:p>
          <a:p>
            <a:pPr marL="537280" lvl="1" indent="-268640" algn="just">
              <a:lnSpc>
                <a:spcPts val="3110"/>
              </a:lnSpc>
              <a:buFont typeface="Arial"/>
              <a:buChar char="•"/>
            </a:pPr>
            <a:r>
              <a:rPr lang="en-US" sz="2488">
                <a:solidFill>
                  <a:srgbClr val="000000"/>
                </a:solidFill>
                <a:latin typeface="Cousine"/>
                <a:ea typeface="Cousine"/>
                <a:cs typeface="Cousine"/>
                <a:sym typeface="Cousine"/>
              </a:rPr>
              <a:t>FIFO (First-In, First-Out)</a:t>
            </a:r>
          </a:p>
          <a:p>
            <a:pPr algn="just">
              <a:lnSpc>
                <a:spcPts val="3110"/>
              </a:lnSpc>
            </a:pPr>
            <a:endParaRPr lang="en-US" sz="2488">
              <a:solidFill>
                <a:srgbClr val="000000"/>
              </a:solidFill>
              <a:latin typeface="Cousine"/>
              <a:ea typeface="Cousine"/>
              <a:cs typeface="Cousine"/>
              <a:sym typeface="Cousine"/>
            </a:endParaRPr>
          </a:p>
        </p:txBody>
      </p:sp>
      <p:sp>
        <p:nvSpPr>
          <p:cNvPr id="35" name="TextBox 35"/>
          <p:cNvSpPr txBox="1"/>
          <p:nvPr/>
        </p:nvSpPr>
        <p:spPr>
          <a:xfrm>
            <a:off x="5486400" y="5105400"/>
            <a:ext cx="7315200" cy="323215"/>
          </a:xfrm>
          <a:prstGeom prst="rect">
            <a:avLst/>
          </a:prstGeom>
        </p:spPr>
        <p:txBody>
          <a:bodyPr lIns="0" tIns="0" rIns="0" bIns="0" rtlCol="0" anchor="t">
            <a:spAutoFit/>
          </a:bodyPr>
          <a:lstStyle/>
          <a:p>
            <a:pPr algn="ctr">
              <a:lnSpc>
                <a:spcPts val="2659"/>
              </a:lnSpc>
              <a:spcBef>
                <a:spcPct val="0"/>
              </a:spcBef>
            </a:pPr>
            <a:r>
              <a:rPr lang="en-US" sz="1899">
                <a:solidFill>
                  <a:srgbClr val="000000"/>
                </a:solidFill>
                <a:latin typeface="Canva Sans"/>
                <a:ea typeface="Canva Sans"/>
                <a:cs typeface="Canva Sans"/>
                <a:sym typeface="Canva Sans"/>
              </a:rPr>
              <a:t>Computer Architecture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613"/>
            <a:ext cx="17470132" cy="7545134"/>
            <a:chOff x="0" y="0"/>
            <a:chExt cx="4601210" cy="1987169"/>
          </a:xfrm>
        </p:grpSpPr>
        <p:sp>
          <p:nvSpPr>
            <p:cNvPr id="6" name="Freeform 6"/>
            <p:cNvSpPr/>
            <p:nvPr/>
          </p:nvSpPr>
          <p:spPr>
            <a:xfrm>
              <a:off x="0" y="0"/>
              <a:ext cx="4601210" cy="1987169"/>
            </a:xfrm>
            <a:custGeom>
              <a:avLst/>
              <a:gdLst/>
              <a:ahLst/>
              <a:cxnLst/>
              <a:rect l="l" t="t" r="r" b="b"/>
              <a:pathLst>
                <a:path w="4601210" h="1987169">
                  <a:moveTo>
                    <a:pt x="4601210" y="0"/>
                  </a:moveTo>
                  <a:lnTo>
                    <a:pt x="4601210" y="1987169"/>
                  </a:lnTo>
                  <a:lnTo>
                    <a:pt x="0" y="1987169"/>
                  </a:lnTo>
                  <a:lnTo>
                    <a:pt x="0" y="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210" cy="2034794"/>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408934" y="9193555"/>
            <a:ext cx="755149" cy="652980"/>
            <a:chOff x="0" y="0"/>
            <a:chExt cx="198887" cy="171978"/>
          </a:xfrm>
        </p:grpSpPr>
        <p:sp>
          <p:nvSpPr>
            <p:cNvPr id="15" name="Freeform 15"/>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6" name="TextBox 16"/>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7123917"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1" name="Freeform 21"/>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nvGrpSpPr>
          <p:cNvPr id="22" name="Group 22"/>
          <p:cNvGrpSpPr/>
          <p:nvPr/>
        </p:nvGrpSpPr>
        <p:grpSpPr>
          <a:xfrm>
            <a:off x="11021842" y="9193555"/>
            <a:ext cx="1271608" cy="652980"/>
            <a:chOff x="0" y="0"/>
            <a:chExt cx="334909" cy="171978"/>
          </a:xfrm>
        </p:grpSpPr>
        <p:sp>
          <p:nvSpPr>
            <p:cNvPr id="23" name="Freeform 23"/>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24" name="TextBox 24"/>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5120758" y="2880337"/>
            <a:ext cx="8046484" cy="1740967"/>
          </a:xfrm>
          <a:custGeom>
            <a:avLst/>
            <a:gdLst/>
            <a:ahLst/>
            <a:cxnLst/>
            <a:rect l="l" t="t" r="r" b="b"/>
            <a:pathLst>
              <a:path w="8046484" h="1740967">
                <a:moveTo>
                  <a:pt x="0" y="0"/>
                </a:moveTo>
                <a:lnTo>
                  <a:pt x="8046484" y="0"/>
                </a:lnTo>
                <a:lnTo>
                  <a:pt x="8046484" y="1740967"/>
                </a:lnTo>
                <a:lnTo>
                  <a:pt x="0" y="1740967"/>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GB"/>
          </a:p>
        </p:txBody>
      </p:sp>
      <p:sp>
        <p:nvSpPr>
          <p:cNvPr id="26" name="TextBox 26"/>
          <p:cNvSpPr txBox="1"/>
          <p:nvPr/>
        </p:nvSpPr>
        <p:spPr>
          <a:xfrm>
            <a:off x="5444192" y="3331093"/>
            <a:ext cx="7461925" cy="972806"/>
          </a:xfrm>
          <a:prstGeom prst="rect">
            <a:avLst/>
          </a:prstGeom>
        </p:spPr>
        <p:txBody>
          <a:bodyPr lIns="0" tIns="0" rIns="0" bIns="0" rtlCol="0" anchor="t">
            <a:spAutoFit/>
          </a:bodyPr>
          <a:lstStyle/>
          <a:p>
            <a:pPr algn="ctr">
              <a:lnSpc>
                <a:spcPts val="3668"/>
              </a:lnSpc>
            </a:pPr>
            <a:r>
              <a:rPr lang="en-US" sz="4316" b="1" spc="-146">
                <a:solidFill>
                  <a:srgbClr val="000000"/>
                </a:solidFill>
                <a:latin typeface="Anonymous Pro Bold"/>
                <a:ea typeface="Anonymous Pro Bold"/>
                <a:cs typeface="Anonymous Pro Bold"/>
                <a:sym typeface="Anonymous Pro Bold"/>
              </a:rPr>
              <a:t>HOW A CACHE WORKS: HITS &amp; MISSES</a:t>
            </a:r>
          </a:p>
        </p:txBody>
      </p:sp>
      <p:sp>
        <p:nvSpPr>
          <p:cNvPr id="27" name="Freeform 27"/>
          <p:cNvSpPr/>
          <p:nvPr/>
        </p:nvSpPr>
        <p:spPr>
          <a:xfrm>
            <a:off x="11443254" y="4256242"/>
            <a:ext cx="428782" cy="730125"/>
          </a:xfrm>
          <a:custGeom>
            <a:avLst/>
            <a:gdLst/>
            <a:ahLst/>
            <a:cxnLst/>
            <a:rect l="l" t="t" r="r" b="b"/>
            <a:pathLst>
              <a:path w="428782" h="730125">
                <a:moveTo>
                  <a:pt x="0" y="0"/>
                </a:moveTo>
                <a:lnTo>
                  <a:pt x="428783" y="0"/>
                </a:lnTo>
                <a:lnTo>
                  <a:pt x="428783" y="730124"/>
                </a:lnTo>
                <a:lnTo>
                  <a:pt x="0" y="73012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28" name="TextBox 28"/>
          <p:cNvSpPr txBox="1"/>
          <p:nvPr/>
        </p:nvSpPr>
        <p:spPr>
          <a:xfrm>
            <a:off x="1192688" y="5688104"/>
            <a:ext cx="6352452" cy="2356079"/>
          </a:xfrm>
          <a:prstGeom prst="rect">
            <a:avLst/>
          </a:prstGeom>
        </p:spPr>
        <p:txBody>
          <a:bodyPr lIns="0" tIns="0" rIns="0" bIns="0" rtlCol="0" anchor="t">
            <a:spAutoFit/>
          </a:bodyPr>
          <a:lstStyle/>
          <a:p>
            <a:pPr algn="just">
              <a:lnSpc>
                <a:spcPts val="3109"/>
              </a:lnSpc>
            </a:pPr>
            <a:r>
              <a:rPr lang="en-US" sz="2487" b="1">
                <a:solidFill>
                  <a:srgbClr val="000000"/>
                </a:solidFill>
                <a:latin typeface="Cousine Bold"/>
                <a:ea typeface="Cousine Bold"/>
                <a:cs typeface="Cousine Bold"/>
                <a:sym typeface="Cousine Bold"/>
              </a:rPr>
              <a:t>Cache Hit:</a:t>
            </a:r>
          </a:p>
          <a:p>
            <a:pPr marL="537023" lvl="1" indent="-268511" algn="just">
              <a:lnSpc>
                <a:spcPts val="3109"/>
              </a:lnSpc>
              <a:buFont typeface="Arial"/>
              <a:buChar char="•"/>
            </a:pPr>
            <a:r>
              <a:rPr lang="en-US" sz="2487">
                <a:solidFill>
                  <a:srgbClr val="000000"/>
                </a:solidFill>
                <a:latin typeface="Cousine"/>
                <a:ea typeface="Cousine"/>
                <a:cs typeface="Cousine"/>
                <a:sym typeface="Cousine"/>
              </a:rPr>
              <a:t>The CPU requests data.</a:t>
            </a:r>
          </a:p>
          <a:p>
            <a:pPr marL="537023" lvl="1" indent="-268511" algn="just">
              <a:lnSpc>
                <a:spcPts val="3109"/>
              </a:lnSpc>
              <a:buFont typeface="Arial"/>
              <a:buChar char="•"/>
            </a:pPr>
            <a:r>
              <a:rPr lang="en-US" sz="2487">
                <a:solidFill>
                  <a:srgbClr val="000000"/>
                </a:solidFill>
                <a:latin typeface="Cousine"/>
                <a:ea typeface="Cousine"/>
                <a:cs typeface="Cousine"/>
                <a:sym typeface="Cousine"/>
              </a:rPr>
              <a:t>The data is found in the cache.</a:t>
            </a:r>
          </a:p>
          <a:p>
            <a:pPr marL="537023" lvl="1" indent="-268511" algn="just">
              <a:lnSpc>
                <a:spcPts val="3109"/>
              </a:lnSpc>
              <a:buFont typeface="Arial"/>
              <a:buChar char="•"/>
            </a:pPr>
            <a:r>
              <a:rPr lang="en-US" sz="2487">
                <a:solidFill>
                  <a:srgbClr val="000000"/>
                </a:solidFill>
                <a:latin typeface="Cousine"/>
                <a:ea typeface="Cousine"/>
                <a:cs typeface="Cousine"/>
                <a:sym typeface="Cousine"/>
              </a:rPr>
              <a:t>This is fast!</a:t>
            </a:r>
          </a:p>
          <a:p>
            <a:pPr algn="just">
              <a:lnSpc>
                <a:spcPts val="3109"/>
              </a:lnSpc>
            </a:pPr>
            <a:endParaRPr lang="en-US" sz="2487">
              <a:solidFill>
                <a:srgbClr val="000000"/>
              </a:solidFill>
              <a:latin typeface="Cousine"/>
              <a:ea typeface="Cousine"/>
              <a:cs typeface="Cousine"/>
              <a:sym typeface="Cousine"/>
            </a:endParaRPr>
          </a:p>
        </p:txBody>
      </p:sp>
      <p:sp>
        <p:nvSpPr>
          <p:cNvPr id="29" name="TextBox 29"/>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30" name="TextBox 30"/>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31" name="TextBox 31"/>
          <p:cNvSpPr txBox="1"/>
          <p:nvPr/>
        </p:nvSpPr>
        <p:spPr>
          <a:xfrm>
            <a:off x="2544931"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Content</a:t>
            </a:r>
          </a:p>
        </p:txBody>
      </p:sp>
      <p:sp>
        <p:nvSpPr>
          <p:cNvPr id="32" name="TextBox 32"/>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id="33" name="TextBox 33"/>
          <p:cNvSpPr txBox="1"/>
          <p:nvPr/>
        </p:nvSpPr>
        <p:spPr>
          <a:xfrm>
            <a:off x="10660315" y="5688104"/>
            <a:ext cx="6352452" cy="2356079"/>
          </a:xfrm>
          <a:prstGeom prst="rect">
            <a:avLst/>
          </a:prstGeom>
        </p:spPr>
        <p:txBody>
          <a:bodyPr lIns="0" tIns="0" rIns="0" bIns="0" rtlCol="0" anchor="t">
            <a:spAutoFit/>
          </a:bodyPr>
          <a:lstStyle/>
          <a:p>
            <a:pPr algn="just">
              <a:lnSpc>
                <a:spcPts val="3109"/>
              </a:lnSpc>
            </a:pPr>
            <a:r>
              <a:rPr lang="en-US" sz="2487" b="1">
                <a:solidFill>
                  <a:srgbClr val="000000"/>
                </a:solidFill>
                <a:latin typeface="Cousine Bold"/>
                <a:ea typeface="Cousine Bold"/>
                <a:cs typeface="Cousine Bold"/>
                <a:sym typeface="Cousine Bold"/>
              </a:rPr>
              <a:t>Cache Miss:</a:t>
            </a:r>
          </a:p>
          <a:p>
            <a:pPr marL="537023" lvl="1" indent="-268511" algn="just">
              <a:lnSpc>
                <a:spcPts val="3109"/>
              </a:lnSpc>
              <a:buFont typeface="Arial"/>
              <a:buChar char="•"/>
            </a:pPr>
            <a:r>
              <a:rPr lang="en-US" sz="2487">
                <a:solidFill>
                  <a:srgbClr val="000000"/>
                </a:solidFill>
                <a:latin typeface="Cousine"/>
                <a:ea typeface="Cousine"/>
                <a:cs typeface="Cousine"/>
                <a:sym typeface="Cousine"/>
              </a:rPr>
              <a:t>The CPU requests data.</a:t>
            </a:r>
          </a:p>
          <a:p>
            <a:pPr marL="537023" lvl="1" indent="-268511" algn="just">
              <a:lnSpc>
                <a:spcPts val="3109"/>
              </a:lnSpc>
              <a:buFont typeface="Arial"/>
              <a:buChar char="•"/>
            </a:pPr>
            <a:r>
              <a:rPr lang="en-US" sz="2487">
                <a:solidFill>
                  <a:srgbClr val="000000"/>
                </a:solidFill>
                <a:latin typeface="Cousine"/>
                <a:ea typeface="Cousine"/>
                <a:cs typeface="Cousine"/>
                <a:sym typeface="Cousine"/>
              </a:rPr>
              <a:t>The data is NOT in the cache.</a:t>
            </a:r>
          </a:p>
          <a:p>
            <a:pPr marL="537023" lvl="1" indent="-268511" algn="just">
              <a:lnSpc>
                <a:spcPts val="3109"/>
              </a:lnSpc>
              <a:buFont typeface="Arial"/>
              <a:buChar char="•"/>
            </a:pPr>
            <a:r>
              <a:rPr lang="en-US" sz="2487">
                <a:solidFill>
                  <a:srgbClr val="000000"/>
                </a:solidFill>
                <a:latin typeface="Cousine"/>
                <a:ea typeface="Cousine"/>
                <a:cs typeface="Cousine"/>
                <a:sym typeface="Cousine"/>
              </a:rPr>
              <a:t>This is slow! (Must fetch from main memory).</a:t>
            </a:r>
          </a:p>
          <a:p>
            <a:pPr algn="just">
              <a:lnSpc>
                <a:spcPts val="3109"/>
              </a:lnSpc>
            </a:pPr>
            <a:endParaRPr lang="en-US" sz="2487">
              <a:solidFill>
                <a:srgbClr val="000000"/>
              </a:solidFill>
              <a:latin typeface="Cousine"/>
              <a:ea typeface="Cousine"/>
              <a:cs typeface="Cousine"/>
              <a:sym typeface="Cousine"/>
            </a:endParaRPr>
          </a:p>
        </p:txBody>
      </p:sp>
      <p:sp>
        <p:nvSpPr>
          <p:cNvPr id="34" name="Freeform 34"/>
          <p:cNvSpPr/>
          <p:nvPr/>
        </p:nvSpPr>
        <p:spPr>
          <a:xfrm rot="5400000">
            <a:off x="4533829" y="2557416"/>
            <a:ext cx="1173858" cy="1173858"/>
          </a:xfrm>
          <a:custGeom>
            <a:avLst/>
            <a:gdLst/>
            <a:ahLst/>
            <a:cxnLst/>
            <a:rect l="l" t="t" r="r" b="b"/>
            <a:pathLst>
              <a:path w="1173858" h="1173858">
                <a:moveTo>
                  <a:pt x="0" y="0"/>
                </a:moveTo>
                <a:lnTo>
                  <a:pt x="1173858" y="0"/>
                </a:lnTo>
                <a:lnTo>
                  <a:pt x="1173858" y="1173858"/>
                </a:lnTo>
                <a:lnTo>
                  <a:pt x="0" y="117385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613"/>
            <a:ext cx="17470132" cy="7545134"/>
            <a:chOff x="0" y="0"/>
            <a:chExt cx="4601210" cy="1987169"/>
          </a:xfrm>
        </p:grpSpPr>
        <p:sp>
          <p:nvSpPr>
            <p:cNvPr id="6" name="Freeform 6"/>
            <p:cNvSpPr/>
            <p:nvPr/>
          </p:nvSpPr>
          <p:spPr>
            <a:xfrm>
              <a:off x="0" y="0"/>
              <a:ext cx="4601210" cy="1987169"/>
            </a:xfrm>
            <a:custGeom>
              <a:avLst/>
              <a:gdLst/>
              <a:ahLst/>
              <a:cxnLst/>
              <a:rect l="l" t="t" r="r" b="b"/>
              <a:pathLst>
                <a:path w="4601210" h="1987169">
                  <a:moveTo>
                    <a:pt x="4601210" y="0"/>
                  </a:moveTo>
                  <a:lnTo>
                    <a:pt x="4601210" y="1987169"/>
                  </a:lnTo>
                  <a:lnTo>
                    <a:pt x="0" y="1987169"/>
                  </a:lnTo>
                  <a:lnTo>
                    <a:pt x="0" y="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210" cy="2034794"/>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408934" y="9193555"/>
            <a:ext cx="755149" cy="652980"/>
            <a:chOff x="0" y="0"/>
            <a:chExt cx="198887" cy="171978"/>
          </a:xfrm>
        </p:grpSpPr>
        <p:sp>
          <p:nvSpPr>
            <p:cNvPr id="15" name="Freeform 15"/>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6" name="TextBox 16"/>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7123917"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1" name="Freeform 21"/>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nvGrpSpPr>
          <p:cNvPr id="22" name="Group 22"/>
          <p:cNvGrpSpPr/>
          <p:nvPr/>
        </p:nvGrpSpPr>
        <p:grpSpPr>
          <a:xfrm>
            <a:off x="11021842" y="9193555"/>
            <a:ext cx="1271608" cy="652980"/>
            <a:chOff x="0" y="0"/>
            <a:chExt cx="334909" cy="171978"/>
          </a:xfrm>
        </p:grpSpPr>
        <p:sp>
          <p:nvSpPr>
            <p:cNvPr id="23" name="Freeform 23"/>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24" name="TextBox 24"/>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5285532" y="2880337"/>
            <a:ext cx="8046484" cy="1740967"/>
          </a:xfrm>
          <a:custGeom>
            <a:avLst/>
            <a:gdLst/>
            <a:ahLst/>
            <a:cxnLst/>
            <a:rect l="l" t="t" r="r" b="b"/>
            <a:pathLst>
              <a:path w="8046484" h="1740967">
                <a:moveTo>
                  <a:pt x="0" y="0"/>
                </a:moveTo>
                <a:lnTo>
                  <a:pt x="8046484" y="0"/>
                </a:lnTo>
                <a:lnTo>
                  <a:pt x="8046484" y="1740967"/>
                </a:lnTo>
                <a:lnTo>
                  <a:pt x="0" y="1740967"/>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GB"/>
          </a:p>
        </p:txBody>
      </p:sp>
      <p:sp>
        <p:nvSpPr>
          <p:cNvPr id="26" name="TextBox 26"/>
          <p:cNvSpPr txBox="1"/>
          <p:nvPr/>
        </p:nvSpPr>
        <p:spPr>
          <a:xfrm>
            <a:off x="5610606" y="3331093"/>
            <a:ext cx="7396336" cy="972806"/>
          </a:xfrm>
          <a:prstGeom prst="rect">
            <a:avLst/>
          </a:prstGeom>
        </p:spPr>
        <p:txBody>
          <a:bodyPr lIns="0" tIns="0" rIns="0" bIns="0" rtlCol="0" anchor="t">
            <a:spAutoFit/>
          </a:bodyPr>
          <a:lstStyle/>
          <a:p>
            <a:pPr algn="ctr">
              <a:lnSpc>
                <a:spcPts val="3668"/>
              </a:lnSpc>
            </a:pPr>
            <a:r>
              <a:rPr lang="en-US" sz="4316" b="1" spc="-146">
                <a:solidFill>
                  <a:srgbClr val="000000"/>
                </a:solidFill>
                <a:latin typeface="Anonymous Pro Bold"/>
                <a:ea typeface="Anonymous Pro Bold"/>
                <a:cs typeface="Anonymous Pro Bold"/>
                <a:sym typeface="Anonymous Pro Bold"/>
              </a:rPr>
              <a:t>ANATOMY OF A MEMORY ADDRESS</a:t>
            </a:r>
          </a:p>
        </p:txBody>
      </p:sp>
      <p:sp>
        <p:nvSpPr>
          <p:cNvPr id="27" name="Freeform 27"/>
          <p:cNvSpPr/>
          <p:nvPr/>
        </p:nvSpPr>
        <p:spPr>
          <a:xfrm>
            <a:off x="4724812" y="2702790"/>
            <a:ext cx="1121439" cy="1088815"/>
          </a:xfrm>
          <a:custGeom>
            <a:avLst/>
            <a:gdLst/>
            <a:ahLst/>
            <a:cxnLst/>
            <a:rect l="l" t="t" r="r" b="b"/>
            <a:pathLst>
              <a:path w="1121439" h="1088815">
                <a:moveTo>
                  <a:pt x="0" y="0"/>
                </a:moveTo>
                <a:lnTo>
                  <a:pt x="1121439" y="0"/>
                </a:lnTo>
                <a:lnTo>
                  <a:pt x="1121439" y="1088815"/>
                </a:lnTo>
                <a:lnTo>
                  <a:pt x="0" y="108881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28" name="Freeform 28"/>
          <p:cNvSpPr/>
          <p:nvPr/>
        </p:nvSpPr>
        <p:spPr>
          <a:xfrm>
            <a:off x="12325584" y="4303899"/>
            <a:ext cx="356284" cy="606675"/>
          </a:xfrm>
          <a:custGeom>
            <a:avLst/>
            <a:gdLst/>
            <a:ahLst/>
            <a:cxnLst/>
            <a:rect l="l" t="t" r="r" b="b"/>
            <a:pathLst>
              <a:path w="356284" h="606675">
                <a:moveTo>
                  <a:pt x="0" y="0"/>
                </a:moveTo>
                <a:lnTo>
                  <a:pt x="356284" y="0"/>
                </a:lnTo>
                <a:lnTo>
                  <a:pt x="356284" y="606675"/>
                </a:lnTo>
                <a:lnTo>
                  <a:pt x="0" y="60667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29" name="TextBox 29"/>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30" name="TextBox 30"/>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31" name="TextBox 31"/>
          <p:cNvSpPr txBox="1"/>
          <p:nvPr/>
        </p:nvSpPr>
        <p:spPr>
          <a:xfrm>
            <a:off x="2544931"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Content</a:t>
            </a:r>
          </a:p>
        </p:txBody>
      </p:sp>
      <p:sp>
        <p:nvSpPr>
          <p:cNvPr id="32" name="TextBox 32"/>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id="33" name="TextBox 33"/>
          <p:cNvSpPr txBox="1"/>
          <p:nvPr/>
        </p:nvSpPr>
        <p:spPr>
          <a:xfrm>
            <a:off x="4350700" y="5040404"/>
            <a:ext cx="9586601" cy="763320"/>
          </a:xfrm>
          <a:prstGeom prst="rect">
            <a:avLst/>
          </a:prstGeom>
        </p:spPr>
        <p:txBody>
          <a:bodyPr lIns="0" tIns="0" rIns="0" bIns="0" rtlCol="0" anchor="t">
            <a:spAutoFit/>
          </a:bodyPr>
          <a:lstStyle/>
          <a:p>
            <a:pPr algn="ctr">
              <a:lnSpc>
                <a:spcPts val="3079"/>
              </a:lnSpc>
              <a:spcBef>
                <a:spcPct val="0"/>
              </a:spcBef>
            </a:pPr>
            <a:r>
              <a:rPr lang="en-US" sz="2199">
                <a:solidFill>
                  <a:srgbClr val="000000"/>
                </a:solidFill>
                <a:latin typeface="Canva Sans"/>
                <a:ea typeface="Canva Sans"/>
                <a:cs typeface="Canva Sans"/>
                <a:sym typeface="Canva Sans"/>
              </a:rPr>
              <a:t>To know where to look in the cache, we split the memory address into three parts:</a:t>
            </a:r>
          </a:p>
        </p:txBody>
      </p:sp>
      <p:sp>
        <p:nvSpPr>
          <p:cNvPr id="34" name="TextBox 34"/>
          <p:cNvSpPr txBox="1"/>
          <p:nvPr/>
        </p:nvSpPr>
        <p:spPr>
          <a:xfrm>
            <a:off x="1192688" y="6291196"/>
            <a:ext cx="4506499" cy="13081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Cousine Bold"/>
                <a:ea typeface="Cousine Bold"/>
                <a:cs typeface="Cousine Bold"/>
                <a:sym typeface="Cousine Bold"/>
              </a:rPr>
              <a:t>Block Offset:</a:t>
            </a:r>
            <a:r>
              <a:rPr lang="en-US" sz="2499">
                <a:solidFill>
                  <a:srgbClr val="000000"/>
                </a:solidFill>
                <a:latin typeface="Cousine"/>
                <a:ea typeface="Cousine"/>
                <a:cs typeface="Cousine"/>
                <a:sym typeface="Cousine"/>
              </a:rPr>
              <a:t> Finds the specific byte inside a block.</a:t>
            </a:r>
          </a:p>
        </p:txBody>
      </p:sp>
      <p:sp>
        <p:nvSpPr>
          <p:cNvPr id="35" name="TextBox 35"/>
          <p:cNvSpPr txBox="1"/>
          <p:nvPr/>
        </p:nvSpPr>
        <p:spPr>
          <a:xfrm>
            <a:off x="7523736" y="6291196"/>
            <a:ext cx="4577432" cy="13081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Cousine Bold"/>
                <a:ea typeface="Cousine Bold"/>
                <a:cs typeface="Cousine Bold"/>
                <a:sym typeface="Cousine Bold"/>
              </a:rPr>
              <a:t>Index: </a:t>
            </a:r>
            <a:r>
              <a:rPr lang="en-US" sz="2499">
                <a:solidFill>
                  <a:srgbClr val="000000"/>
                </a:solidFill>
                <a:latin typeface="Cousine"/>
                <a:ea typeface="Cousine"/>
                <a:cs typeface="Cousine"/>
                <a:sym typeface="Cousine"/>
              </a:rPr>
              <a:t>Decides which set (or row) the data belongs to.</a:t>
            </a:r>
          </a:p>
        </p:txBody>
      </p:sp>
      <p:sp>
        <p:nvSpPr>
          <p:cNvPr id="36" name="TextBox 36"/>
          <p:cNvSpPr txBox="1"/>
          <p:nvPr/>
        </p:nvSpPr>
        <p:spPr>
          <a:xfrm>
            <a:off x="12681868" y="6291196"/>
            <a:ext cx="4577432" cy="1308175"/>
          </a:xfrm>
          <a:prstGeom prst="rect">
            <a:avLst/>
          </a:prstGeom>
        </p:spPr>
        <p:txBody>
          <a:bodyPr lIns="0" tIns="0" rIns="0" bIns="0" rtlCol="0" anchor="t">
            <a:spAutoFit/>
          </a:bodyPr>
          <a:lstStyle/>
          <a:p>
            <a:pPr algn="ctr">
              <a:lnSpc>
                <a:spcPts val="3499"/>
              </a:lnSpc>
              <a:spcBef>
                <a:spcPct val="0"/>
              </a:spcBef>
            </a:pPr>
            <a:r>
              <a:rPr lang="en-US" sz="2499" b="1">
                <a:solidFill>
                  <a:srgbClr val="000000"/>
                </a:solidFill>
                <a:latin typeface="Cousine Bold"/>
                <a:ea typeface="Cousine Bold"/>
                <a:cs typeface="Cousine Bold"/>
                <a:sym typeface="Cousine Bold"/>
              </a:rPr>
              <a:t>Tag: </a:t>
            </a:r>
            <a:r>
              <a:rPr lang="en-US" sz="2499">
                <a:solidFill>
                  <a:srgbClr val="000000"/>
                </a:solidFill>
                <a:latin typeface="Cousine"/>
                <a:ea typeface="Cousine"/>
                <a:cs typeface="Cousine"/>
                <a:sym typeface="Cousine"/>
              </a:rPr>
              <a:t>Used to verify if we have the correct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613"/>
            <a:ext cx="17470132" cy="7545134"/>
            <a:chOff x="0" y="0"/>
            <a:chExt cx="4601210" cy="1987169"/>
          </a:xfrm>
        </p:grpSpPr>
        <p:sp>
          <p:nvSpPr>
            <p:cNvPr id="6" name="Freeform 6"/>
            <p:cNvSpPr/>
            <p:nvPr/>
          </p:nvSpPr>
          <p:spPr>
            <a:xfrm>
              <a:off x="0" y="0"/>
              <a:ext cx="4601210" cy="1987169"/>
            </a:xfrm>
            <a:custGeom>
              <a:avLst/>
              <a:gdLst/>
              <a:ahLst/>
              <a:cxnLst/>
              <a:rect l="l" t="t" r="r" b="b"/>
              <a:pathLst>
                <a:path w="4601210" h="1987169">
                  <a:moveTo>
                    <a:pt x="4601210" y="0"/>
                  </a:moveTo>
                  <a:lnTo>
                    <a:pt x="4601210" y="1987169"/>
                  </a:lnTo>
                  <a:lnTo>
                    <a:pt x="0" y="1987169"/>
                  </a:lnTo>
                  <a:lnTo>
                    <a:pt x="0" y="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210" cy="2034794"/>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408934" y="9193555"/>
            <a:ext cx="755149" cy="652980"/>
            <a:chOff x="0" y="0"/>
            <a:chExt cx="198887" cy="171978"/>
          </a:xfrm>
        </p:grpSpPr>
        <p:sp>
          <p:nvSpPr>
            <p:cNvPr id="15" name="Freeform 15"/>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6" name="TextBox 16"/>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7123917"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1" name="Freeform 21"/>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nvGrpSpPr>
          <p:cNvPr id="22" name="Group 22"/>
          <p:cNvGrpSpPr/>
          <p:nvPr/>
        </p:nvGrpSpPr>
        <p:grpSpPr>
          <a:xfrm>
            <a:off x="11021842" y="9193555"/>
            <a:ext cx="1271608" cy="652980"/>
            <a:chOff x="0" y="0"/>
            <a:chExt cx="334909" cy="171978"/>
          </a:xfrm>
        </p:grpSpPr>
        <p:sp>
          <p:nvSpPr>
            <p:cNvPr id="23" name="Freeform 23"/>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24" name="TextBox 24"/>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5999024" y="2787640"/>
            <a:ext cx="7007918" cy="1516259"/>
          </a:xfrm>
          <a:custGeom>
            <a:avLst/>
            <a:gdLst/>
            <a:ahLst/>
            <a:cxnLst/>
            <a:rect l="l" t="t" r="r" b="b"/>
            <a:pathLst>
              <a:path w="7007918" h="1516259">
                <a:moveTo>
                  <a:pt x="0" y="0"/>
                </a:moveTo>
                <a:lnTo>
                  <a:pt x="7007918" y="0"/>
                </a:lnTo>
                <a:lnTo>
                  <a:pt x="7007918" y="1516259"/>
                </a:lnTo>
                <a:lnTo>
                  <a:pt x="0" y="1516259"/>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GB"/>
          </a:p>
        </p:txBody>
      </p:sp>
      <p:sp>
        <p:nvSpPr>
          <p:cNvPr id="26" name="TextBox 26"/>
          <p:cNvSpPr txBox="1"/>
          <p:nvPr/>
        </p:nvSpPr>
        <p:spPr>
          <a:xfrm>
            <a:off x="5610606" y="3331093"/>
            <a:ext cx="7396336" cy="515656"/>
          </a:xfrm>
          <a:prstGeom prst="rect">
            <a:avLst/>
          </a:prstGeom>
        </p:spPr>
        <p:txBody>
          <a:bodyPr lIns="0" tIns="0" rIns="0" bIns="0" rtlCol="0" anchor="t">
            <a:spAutoFit/>
          </a:bodyPr>
          <a:lstStyle/>
          <a:p>
            <a:pPr algn="ctr">
              <a:lnSpc>
                <a:spcPts val="3668"/>
              </a:lnSpc>
            </a:pPr>
            <a:r>
              <a:rPr lang="en-US" sz="4316" b="1" spc="-146">
                <a:solidFill>
                  <a:srgbClr val="000000"/>
                </a:solidFill>
                <a:latin typeface="Anonymous Pro Bold"/>
                <a:ea typeface="Anonymous Pro Bold"/>
                <a:cs typeface="Anonymous Pro Bold"/>
                <a:sym typeface="Anonymous Pro Bold"/>
              </a:rPr>
              <a:t> CACHE ORGANIZATIONS</a:t>
            </a:r>
          </a:p>
        </p:txBody>
      </p:sp>
      <p:sp>
        <p:nvSpPr>
          <p:cNvPr id="27" name="Freeform 27"/>
          <p:cNvSpPr/>
          <p:nvPr/>
        </p:nvSpPr>
        <p:spPr>
          <a:xfrm rot="-82828">
            <a:off x="5176215" y="2569868"/>
            <a:ext cx="1045944" cy="1015517"/>
          </a:xfrm>
          <a:custGeom>
            <a:avLst/>
            <a:gdLst/>
            <a:ahLst/>
            <a:cxnLst/>
            <a:rect l="l" t="t" r="r" b="b"/>
            <a:pathLst>
              <a:path w="1045944" h="1015517">
                <a:moveTo>
                  <a:pt x="0" y="0"/>
                </a:moveTo>
                <a:lnTo>
                  <a:pt x="1045945" y="0"/>
                </a:lnTo>
                <a:lnTo>
                  <a:pt x="1045945" y="1015517"/>
                </a:lnTo>
                <a:lnTo>
                  <a:pt x="0" y="101551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28" name="Freeform 28"/>
          <p:cNvSpPr/>
          <p:nvPr/>
        </p:nvSpPr>
        <p:spPr>
          <a:xfrm>
            <a:off x="12325584" y="4303899"/>
            <a:ext cx="356284" cy="606675"/>
          </a:xfrm>
          <a:custGeom>
            <a:avLst/>
            <a:gdLst/>
            <a:ahLst/>
            <a:cxnLst/>
            <a:rect l="l" t="t" r="r" b="b"/>
            <a:pathLst>
              <a:path w="356284" h="606675">
                <a:moveTo>
                  <a:pt x="0" y="0"/>
                </a:moveTo>
                <a:lnTo>
                  <a:pt x="356284" y="0"/>
                </a:lnTo>
                <a:lnTo>
                  <a:pt x="356284" y="606675"/>
                </a:lnTo>
                <a:lnTo>
                  <a:pt x="0" y="60667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29" name="TextBox 29"/>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30" name="TextBox 30"/>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31" name="TextBox 31"/>
          <p:cNvSpPr txBox="1"/>
          <p:nvPr/>
        </p:nvSpPr>
        <p:spPr>
          <a:xfrm>
            <a:off x="2544931"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Content</a:t>
            </a:r>
          </a:p>
        </p:txBody>
      </p:sp>
      <p:sp>
        <p:nvSpPr>
          <p:cNvPr id="32" name="TextBox 32"/>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id="33" name="TextBox 33"/>
          <p:cNvSpPr txBox="1"/>
          <p:nvPr/>
        </p:nvSpPr>
        <p:spPr>
          <a:xfrm>
            <a:off x="1192688" y="5320438"/>
            <a:ext cx="6874537" cy="2799427"/>
          </a:xfrm>
          <a:prstGeom prst="rect">
            <a:avLst/>
          </a:prstGeom>
        </p:spPr>
        <p:txBody>
          <a:bodyPr lIns="0" tIns="0" rIns="0" bIns="0" rtlCol="0" anchor="t">
            <a:spAutoFit/>
          </a:bodyPr>
          <a:lstStyle/>
          <a:p>
            <a:pPr algn="l">
              <a:lnSpc>
                <a:spcPts val="3219"/>
              </a:lnSpc>
            </a:pPr>
            <a:r>
              <a:rPr lang="en-US" sz="2299">
                <a:solidFill>
                  <a:srgbClr val="000000"/>
                </a:solidFill>
                <a:latin typeface="Cousine"/>
                <a:ea typeface="Cousine"/>
                <a:cs typeface="Cousine"/>
                <a:sym typeface="Cousine"/>
              </a:rPr>
              <a:t>1.</a:t>
            </a:r>
            <a:r>
              <a:rPr lang="en-US" sz="2299" b="1">
                <a:solidFill>
                  <a:srgbClr val="000000"/>
                </a:solidFill>
                <a:latin typeface="Cousine Bold"/>
                <a:ea typeface="Cousine Bold"/>
                <a:cs typeface="Cousine Bold"/>
                <a:sym typeface="Cousine Bold"/>
              </a:rPr>
              <a:t> Direct-Mapped (Associativity = 1)</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Each memory block maps to exactly one cache line.</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Pros: Simple, fast, and cheap.</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Cons: High "conflict misses" (two blocks can fight for the same line).</a:t>
            </a:r>
          </a:p>
          <a:p>
            <a:pPr algn="ctr">
              <a:lnSpc>
                <a:spcPts val="3219"/>
              </a:lnSpc>
              <a:spcBef>
                <a:spcPct val="0"/>
              </a:spcBef>
            </a:pPr>
            <a:endParaRPr lang="en-US" sz="2299">
              <a:solidFill>
                <a:srgbClr val="000000"/>
              </a:solidFill>
              <a:latin typeface="Cousine"/>
              <a:ea typeface="Cousine"/>
              <a:cs typeface="Cousine"/>
              <a:sym typeface="Cousine"/>
            </a:endParaRPr>
          </a:p>
        </p:txBody>
      </p:sp>
      <p:sp>
        <p:nvSpPr>
          <p:cNvPr id="34" name="TextBox 34"/>
          <p:cNvSpPr txBox="1"/>
          <p:nvPr/>
        </p:nvSpPr>
        <p:spPr>
          <a:xfrm>
            <a:off x="10307663" y="5320438"/>
            <a:ext cx="6432290" cy="2399328"/>
          </a:xfrm>
          <a:prstGeom prst="rect">
            <a:avLst/>
          </a:prstGeom>
        </p:spPr>
        <p:txBody>
          <a:bodyPr lIns="0" tIns="0" rIns="0" bIns="0" rtlCol="0" anchor="t">
            <a:spAutoFit/>
          </a:bodyPr>
          <a:lstStyle/>
          <a:p>
            <a:pPr algn="l">
              <a:lnSpc>
                <a:spcPts val="3219"/>
              </a:lnSpc>
            </a:pPr>
            <a:r>
              <a:rPr lang="en-US" sz="2299">
                <a:solidFill>
                  <a:srgbClr val="000000"/>
                </a:solidFill>
                <a:latin typeface="Cousine"/>
                <a:ea typeface="Cousine"/>
                <a:cs typeface="Cousine"/>
                <a:sym typeface="Cousine"/>
              </a:rPr>
              <a:t>2. </a:t>
            </a:r>
            <a:r>
              <a:rPr lang="en-US" sz="2299" b="1">
                <a:solidFill>
                  <a:srgbClr val="000000"/>
                </a:solidFill>
                <a:latin typeface="Cousine Bold"/>
                <a:ea typeface="Cousine Bold"/>
                <a:cs typeface="Cousine Bold"/>
                <a:sym typeface="Cousine Bold"/>
              </a:rPr>
              <a:t>N-Way Set-Associative</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Each block maps to one set containing N lines.</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A good balance of performance and complexity.</a:t>
            </a:r>
          </a:p>
          <a:p>
            <a:pPr algn="ctr">
              <a:lnSpc>
                <a:spcPts val="3219"/>
              </a:lnSpc>
              <a:spcBef>
                <a:spcPct val="0"/>
              </a:spcBef>
            </a:pPr>
            <a:endParaRPr lang="en-US" sz="2299">
              <a:solidFill>
                <a:srgbClr val="000000"/>
              </a:solidFill>
              <a:latin typeface="Cousine"/>
              <a:ea typeface="Cousine"/>
              <a:cs typeface="Cousine"/>
              <a:sym typeface="Cousin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613"/>
            <a:ext cx="17470132" cy="7545134"/>
            <a:chOff x="0" y="0"/>
            <a:chExt cx="4601210" cy="1987169"/>
          </a:xfrm>
        </p:grpSpPr>
        <p:sp>
          <p:nvSpPr>
            <p:cNvPr id="6" name="Freeform 6"/>
            <p:cNvSpPr/>
            <p:nvPr/>
          </p:nvSpPr>
          <p:spPr>
            <a:xfrm>
              <a:off x="0" y="0"/>
              <a:ext cx="4601210" cy="1987169"/>
            </a:xfrm>
            <a:custGeom>
              <a:avLst/>
              <a:gdLst/>
              <a:ahLst/>
              <a:cxnLst/>
              <a:rect l="l" t="t" r="r" b="b"/>
              <a:pathLst>
                <a:path w="4601210" h="1987169">
                  <a:moveTo>
                    <a:pt x="4601210" y="0"/>
                  </a:moveTo>
                  <a:lnTo>
                    <a:pt x="4601210" y="1987169"/>
                  </a:lnTo>
                  <a:lnTo>
                    <a:pt x="0" y="1987169"/>
                  </a:lnTo>
                  <a:lnTo>
                    <a:pt x="0" y="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210" cy="2034794"/>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408934" y="9193555"/>
            <a:ext cx="755149" cy="652980"/>
            <a:chOff x="0" y="0"/>
            <a:chExt cx="198887" cy="171978"/>
          </a:xfrm>
        </p:grpSpPr>
        <p:sp>
          <p:nvSpPr>
            <p:cNvPr id="15" name="Freeform 15"/>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6" name="TextBox 16"/>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7123917"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1" name="Freeform 21"/>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nvGrpSpPr>
          <p:cNvPr id="22" name="Group 22"/>
          <p:cNvGrpSpPr/>
          <p:nvPr/>
        </p:nvGrpSpPr>
        <p:grpSpPr>
          <a:xfrm>
            <a:off x="11021842" y="9193555"/>
            <a:ext cx="1271608" cy="652980"/>
            <a:chOff x="0" y="0"/>
            <a:chExt cx="334909" cy="171978"/>
          </a:xfrm>
        </p:grpSpPr>
        <p:sp>
          <p:nvSpPr>
            <p:cNvPr id="23" name="Freeform 23"/>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24" name="TextBox 24"/>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5999024" y="2787640"/>
            <a:ext cx="7007918" cy="1516259"/>
          </a:xfrm>
          <a:custGeom>
            <a:avLst/>
            <a:gdLst/>
            <a:ahLst/>
            <a:cxnLst/>
            <a:rect l="l" t="t" r="r" b="b"/>
            <a:pathLst>
              <a:path w="7007918" h="1516259">
                <a:moveTo>
                  <a:pt x="0" y="0"/>
                </a:moveTo>
                <a:lnTo>
                  <a:pt x="7007918" y="0"/>
                </a:lnTo>
                <a:lnTo>
                  <a:pt x="7007918" y="1516259"/>
                </a:lnTo>
                <a:lnTo>
                  <a:pt x="0" y="1516259"/>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GB"/>
          </a:p>
        </p:txBody>
      </p:sp>
      <p:sp>
        <p:nvSpPr>
          <p:cNvPr id="26" name="TextBox 26"/>
          <p:cNvSpPr txBox="1"/>
          <p:nvPr/>
        </p:nvSpPr>
        <p:spPr>
          <a:xfrm>
            <a:off x="5610606" y="3331093"/>
            <a:ext cx="7396336" cy="515656"/>
          </a:xfrm>
          <a:prstGeom prst="rect">
            <a:avLst/>
          </a:prstGeom>
        </p:spPr>
        <p:txBody>
          <a:bodyPr lIns="0" tIns="0" rIns="0" bIns="0" rtlCol="0" anchor="t">
            <a:spAutoFit/>
          </a:bodyPr>
          <a:lstStyle/>
          <a:p>
            <a:pPr algn="ctr">
              <a:lnSpc>
                <a:spcPts val="3668"/>
              </a:lnSpc>
            </a:pPr>
            <a:r>
              <a:rPr lang="en-US" sz="4316" b="1" spc="-146">
                <a:solidFill>
                  <a:srgbClr val="000000"/>
                </a:solidFill>
                <a:latin typeface="Anonymous Pro Bold"/>
                <a:ea typeface="Anonymous Pro Bold"/>
                <a:cs typeface="Anonymous Pro Bold"/>
                <a:sym typeface="Anonymous Pro Bold"/>
              </a:rPr>
              <a:t> CACHE ORGANIZATIONS</a:t>
            </a:r>
          </a:p>
        </p:txBody>
      </p:sp>
      <p:sp>
        <p:nvSpPr>
          <p:cNvPr id="27" name="Freeform 27"/>
          <p:cNvSpPr/>
          <p:nvPr/>
        </p:nvSpPr>
        <p:spPr>
          <a:xfrm rot="-82828">
            <a:off x="5176215" y="2569868"/>
            <a:ext cx="1045944" cy="1015517"/>
          </a:xfrm>
          <a:custGeom>
            <a:avLst/>
            <a:gdLst/>
            <a:ahLst/>
            <a:cxnLst/>
            <a:rect l="l" t="t" r="r" b="b"/>
            <a:pathLst>
              <a:path w="1045944" h="1015517">
                <a:moveTo>
                  <a:pt x="0" y="0"/>
                </a:moveTo>
                <a:lnTo>
                  <a:pt x="1045945" y="0"/>
                </a:lnTo>
                <a:lnTo>
                  <a:pt x="1045945" y="1015517"/>
                </a:lnTo>
                <a:lnTo>
                  <a:pt x="0" y="101551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28" name="Freeform 28"/>
          <p:cNvSpPr/>
          <p:nvPr/>
        </p:nvSpPr>
        <p:spPr>
          <a:xfrm>
            <a:off x="12325584" y="4303899"/>
            <a:ext cx="356284" cy="606675"/>
          </a:xfrm>
          <a:custGeom>
            <a:avLst/>
            <a:gdLst/>
            <a:ahLst/>
            <a:cxnLst/>
            <a:rect l="l" t="t" r="r" b="b"/>
            <a:pathLst>
              <a:path w="356284" h="606675">
                <a:moveTo>
                  <a:pt x="0" y="0"/>
                </a:moveTo>
                <a:lnTo>
                  <a:pt x="356284" y="0"/>
                </a:lnTo>
                <a:lnTo>
                  <a:pt x="356284" y="606675"/>
                </a:lnTo>
                <a:lnTo>
                  <a:pt x="0" y="60667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29" name="TextBox 29"/>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30" name="TextBox 30"/>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31" name="TextBox 31"/>
          <p:cNvSpPr txBox="1"/>
          <p:nvPr/>
        </p:nvSpPr>
        <p:spPr>
          <a:xfrm>
            <a:off x="2544931"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Content</a:t>
            </a:r>
          </a:p>
        </p:txBody>
      </p:sp>
      <p:sp>
        <p:nvSpPr>
          <p:cNvPr id="32" name="TextBox 32"/>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id="33" name="TextBox 33"/>
          <p:cNvSpPr txBox="1"/>
          <p:nvPr/>
        </p:nvSpPr>
        <p:spPr>
          <a:xfrm>
            <a:off x="6027259" y="5110599"/>
            <a:ext cx="6951449" cy="2799427"/>
          </a:xfrm>
          <a:prstGeom prst="rect">
            <a:avLst/>
          </a:prstGeom>
        </p:spPr>
        <p:txBody>
          <a:bodyPr lIns="0" tIns="0" rIns="0" bIns="0" rtlCol="0" anchor="t">
            <a:spAutoFit/>
          </a:bodyPr>
          <a:lstStyle/>
          <a:p>
            <a:pPr algn="l">
              <a:lnSpc>
                <a:spcPts val="3219"/>
              </a:lnSpc>
            </a:pPr>
            <a:r>
              <a:rPr lang="en-US" sz="2299" b="1">
                <a:solidFill>
                  <a:srgbClr val="000000"/>
                </a:solidFill>
                <a:latin typeface="Cousine Bold"/>
                <a:ea typeface="Cousine Bold"/>
                <a:cs typeface="Cousine Bold"/>
                <a:sym typeface="Cousine Bold"/>
              </a:rPr>
              <a:t>Fully-Associative</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A block can be placed anywhere in the cache.</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Pros: No conflict misses.</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Cons: Very complex and slow to check every line at once.</a:t>
            </a:r>
          </a:p>
          <a:p>
            <a:pPr algn="ctr">
              <a:lnSpc>
                <a:spcPts val="3219"/>
              </a:lnSpc>
              <a:spcBef>
                <a:spcPct val="0"/>
              </a:spcBef>
            </a:pPr>
            <a:endParaRPr lang="en-US" sz="2299">
              <a:solidFill>
                <a:srgbClr val="000000"/>
              </a:solidFill>
              <a:latin typeface="Cousine"/>
              <a:ea typeface="Cousine"/>
              <a:cs typeface="Cousine"/>
              <a:sym typeface="Cousin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18459" y="2301613"/>
            <a:ext cx="17470132" cy="7545134"/>
            <a:chOff x="0" y="0"/>
            <a:chExt cx="4601210" cy="1987169"/>
          </a:xfrm>
        </p:grpSpPr>
        <p:sp>
          <p:nvSpPr>
            <p:cNvPr id="6" name="Freeform 6"/>
            <p:cNvSpPr/>
            <p:nvPr/>
          </p:nvSpPr>
          <p:spPr>
            <a:xfrm>
              <a:off x="0" y="0"/>
              <a:ext cx="4601210" cy="1987169"/>
            </a:xfrm>
            <a:custGeom>
              <a:avLst/>
              <a:gdLst/>
              <a:ahLst/>
              <a:cxnLst/>
              <a:rect l="l" t="t" r="r" b="b"/>
              <a:pathLst>
                <a:path w="4601210" h="1987169">
                  <a:moveTo>
                    <a:pt x="4601210" y="0"/>
                  </a:moveTo>
                  <a:lnTo>
                    <a:pt x="4601210" y="1987169"/>
                  </a:lnTo>
                  <a:lnTo>
                    <a:pt x="0" y="1987169"/>
                  </a:lnTo>
                  <a:lnTo>
                    <a:pt x="0" y="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210" cy="2034794"/>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408934" y="9193555"/>
            <a:ext cx="755149" cy="652980"/>
            <a:chOff x="0" y="0"/>
            <a:chExt cx="198887" cy="171978"/>
          </a:xfrm>
        </p:grpSpPr>
        <p:sp>
          <p:nvSpPr>
            <p:cNvPr id="15" name="Freeform 15"/>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6" name="TextBox 16"/>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7123917"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1" name="Freeform 21"/>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nvGrpSpPr>
          <p:cNvPr id="22" name="Group 22"/>
          <p:cNvGrpSpPr/>
          <p:nvPr/>
        </p:nvGrpSpPr>
        <p:grpSpPr>
          <a:xfrm>
            <a:off x="11021842" y="9193555"/>
            <a:ext cx="1271608" cy="652980"/>
            <a:chOff x="0" y="0"/>
            <a:chExt cx="334909" cy="171978"/>
          </a:xfrm>
        </p:grpSpPr>
        <p:sp>
          <p:nvSpPr>
            <p:cNvPr id="23" name="Freeform 23"/>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24" name="TextBox 24"/>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5699188" y="2787640"/>
            <a:ext cx="7228033" cy="1563884"/>
          </a:xfrm>
          <a:custGeom>
            <a:avLst/>
            <a:gdLst/>
            <a:ahLst/>
            <a:cxnLst/>
            <a:rect l="l" t="t" r="r" b="b"/>
            <a:pathLst>
              <a:path w="7228033" h="1563884">
                <a:moveTo>
                  <a:pt x="0" y="0"/>
                </a:moveTo>
                <a:lnTo>
                  <a:pt x="7228033" y="0"/>
                </a:lnTo>
                <a:lnTo>
                  <a:pt x="7228033" y="1563884"/>
                </a:lnTo>
                <a:lnTo>
                  <a:pt x="0" y="1563884"/>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GB"/>
          </a:p>
        </p:txBody>
      </p:sp>
      <p:sp>
        <p:nvSpPr>
          <p:cNvPr id="26" name="TextBox 26"/>
          <p:cNvSpPr txBox="1"/>
          <p:nvPr/>
        </p:nvSpPr>
        <p:spPr>
          <a:xfrm>
            <a:off x="5610606" y="3302518"/>
            <a:ext cx="7396336" cy="747581"/>
          </a:xfrm>
          <a:prstGeom prst="rect">
            <a:avLst/>
          </a:prstGeom>
        </p:spPr>
        <p:txBody>
          <a:bodyPr lIns="0" tIns="0" rIns="0" bIns="0" rtlCol="0" anchor="t">
            <a:spAutoFit/>
          </a:bodyPr>
          <a:lstStyle/>
          <a:p>
            <a:pPr algn="ctr">
              <a:lnSpc>
                <a:spcPts val="2818"/>
              </a:lnSpc>
            </a:pPr>
            <a:r>
              <a:rPr lang="en-US" sz="3316" b="1" spc="-112">
                <a:solidFill>
                  <a:srgbClr val="000000"/>
                </a:solidFill>
                <a:latin typeface="Anonymous Pro Bold"/>
                <a:ea typeface="Anonymous Pro Bold"/>
                <a:cs typeface="Anonymous Pro Bold"/>
                <a:sym typeface="Anonymous Pro Bold"/>
              </a:rPr>
              <a:t>REPLACEMENT POLICIES (WHEN THE CACHE IS FULL)</a:t>
            </a:r>
          </a:p>
        </p:txBody>
      </p:sp>
      <p:sp>
        <p:nvSpPr>
          <p:cNvPr id="27" name="Freeform 27"/>
          <p:cNvSpPr/>
          <p:nvPr/>
        </p:nvSpPr>
        <p:spPr>
          <a:xfrm rot="-82828">
            <a:off x="5176215" y="2569868"/>
            <a:ext cx="1045944" cy="1015517"/>
          </a:xfrm>
          <a:custGeom>
            <a:avLst/>
            <a:gdLst/>
            <a:ahLst/>
            <a:cxnLst/>
            <a:rect l="l" t="t" r="r" b="b"/>
            <a:pathLst>
              <a:path w="1045944" h="1015517">
                <a:moveTo>
                  <a:pt x="0" y="0"/>
                </a:moveTo>
                <a:lnTo>
                  <a:pt x="1045945" y="0"/>
                </a:lnTo>
                <a:lnTo>
                  <a:pt x="1045945" y="1015517"/>
                </a:lnTo>
                <a:lnTo>
                  <a:pt x="0" y="101551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28" name="Freeform 28"/>
          <p:cNvSpPr/>
          <p:nvPr/>
        </p:nvSpPr>
        <p:spPr>
          <a:xfrm>
            <a:off x="12325584" y="4303899"/>
            <a:ext cx="356284" cy="606675"/>
          </a:xfrm>
          <a:custGeom>
            <a:avLst/>
            <a:gdLst/>
            <a:ahLst/>
            <a:cxnLst/>
            <a:rect l="l" t="t" r="r" b="b"/>
            <a:pathLst>
              <a:path w="356284" h="606675">
                <a:moveTo>
                  <a:pt x="0" y="0"/>
                </a:moveTo>
                <a:lnTo>
                  <a:pt x="356284" y="0"/>
                </a:lnTo>
                <a:lnTo>
                  <a:pt x="356284" y="606675"/>
                </a:lnTo>
                <a:lnTo>
                  <a:pt x="0" y="60667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29" name="TextBox 29"/>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30" name="TextBox 30"/>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31" name="TextBox 31"/>
          <p:cNvSpPr txBox="1"/>
          <p:nvPr/>
        </p:nvSpPr>
        <p:spPr>
          <a:xfrm>
            <a:off x="2544931"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Content</a:t>
            </a:r>
          </a:p>
        </p:txBody>
      </p:sp>
      <p:sp>
        <p:nvSpPr>
          <p:cNvPr id="32" name="TextBox 32"/>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id="33" name="TextBox 33"/>
          <p:cNvSpPr txBox="1"/>
          <p:nvPr/>
        </p:nvSpPr>
        <p:spPr>
          <a:xfrm>
            <a:off x="1192688" y="5389749"/>
            <a:ext cx="6951449" cy="2399328"/>
          </a:xfrm>
          <a:prstGeom prst="rect">
            <a:avLst/>
          </a:prstGeom>
        </p:spPr>
        <p:txBody>
          <a:bodyPr lIns="0" tIns="0" rIns="0" bIns="0" rtlCol="0" anchor="t">
            <a:spAutoFit/>
          </a:bodyPr>
          <a:lstStyle/>
          <a:p>
            <a:pPr algn="l">
              <a:lnSpc>
                <a:spcPts val="3219"/>
              </a:lnSpc>
            </a:pPr>
            <a:r>
              <a:rPr lang="en-US" sz="2299" b="1">
                <a:solidFill>
                  <a:srgbClr val="000000"/>
                </a:solidFill>
                <a:latin typeface="Cousine Bold"/>
                <a:ea typeface="Cousine Bold"/>
                <a:cs typeface="Cousine Bold"/>
                <a:sym typeface="Cousine Bold"/>
              </a:rPr>
              <a:t>FIFO (First-In, First-Out):</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Evicts the oldest block (the first one that came in).</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Simple to implement with an arrival_time timestamp.</a:t>
            </a:r>
          </a:p>
          <a:p>
            <a:pPr algn="ctr">
              <a:lnSpc>
                <a:spcPts val="3219"/>
              </a:lnSpc>
              <a:spcBef>
                <a:spcPct val="0"/>
              </a:spcBef>
            </a:pPr>
            <a:endParaRPr lang="en-US" sz="2299">
              <a:solidFill>
                <a:srgbClr val="000000"/>
              </a:solidFill>
              <a:latin typeface="Cousine"/>
              <a:ea typeface="Cousine"/>
              <a:cs typeface="Cousine"/>
              <a:sym typeface="Cousine"/>
            </a:endParaRPr>
          </a:p>
        </p:txBody>
      </p:sp>
      <p:sp>
        <p:nvSpPr>
          <p:cNvPr id="34" name="TextBox 34"/>
          <p:cNvSpPr txBox="1"/>
          <p:nvPr/>
        </p:nvSpPr>
        <p:spPr>
          <a:xfrm>
            <a:off x="10061318" y="5389749"/>
            <a:ext cx="6951449" cy="3599627"/>
          </a:xfrm>
          <a:prstGeom prst="rect">
            <a:avLst/>
          </a:prstGeom>
        </p:spPr>
        <p:txBody>
          <a:bodyPr lIns="0" tIns="0" rIns="0" bIns="0" rtlCol="0" anchor="t">
            <a:spAutoFit/>
          </a:bodyPr>
          <a:lstStyle/>
          <a:p>
            <a:pPr algn="l">
              <a:lnSpc>
                <a:spcPts val="3219"/>
              </a:lnSpc>
            </a:pPr>
            <a:r>
              <a:rPr lang="en-US" sz="2299" b="1">
                <a:solidFill>
                  <a:srgbClr val="000000"/>
                </a:solidFill>
                <a:latin typeface="Cousine Bold"/>
                <a:ea typeface="Cousine Bold"/>
                <a:cs typeface="Cousine Bold"/>
                <a:sym typeface="Cousine Bold"/>
              </a:rPr>
              <a:t>LRU (Least Recently Used):</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Evicts the block accessed furthest in the past.</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Based on "temporal locality" (what you used recently, you'll use again).</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Generally performs better but is more complex.</a:t>
            </a:r>
          </a:p>
          <a:p>
            <a:pPr algn="ctr">
              <a:lnSpc>
                <a:spcPts val="3219"/>
              </a:lnSpc>
              <a:spcBef>
                <a:spcPct val="0"/>
              </a:spcBef>
            </a:pPr>
            <a:endParaRPr lang="en-US" sz="2299">
              <a:solidFill>
                <a:srgbClr val="000000"/>
              </a:solidFill>
              <a:latin typeface="Cousine"/>
              <a:ea typeface="Cousine"/>
              <a:cs typeface="Cousine"/>
              <a:sym typeface="Cousin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402"/>
            <a:ext cx="17470132" cy="7545134"/>
            <a:chOff x="0" y="0"/>
            <a:chExt cx="4601210" cy="1987169"/>
          </a:xfrm>
        </p:grpSpPr>
        <p:sp>
          <p:nvSpPr>
            <p:cNvPr id="6" name="Freeform 6"/>
            <p:cNvSpPr/>
            <p:nvPr/>
          </p:nvSpPr>
          <p:spPr>
            <a:xfrm>
              <a:off x="0" y="0"/>
              <a:ext cx="4601210" cy="1987169"/>
            </a:xfrm>
            <a:custGeom>
              <a:avLst/>
              <a:gdLst/>
              <a:ahLst/>
              <a:cxnLst/>
              <a:rect l="l" t="t" r="r" b="b"/>
              <a:pathLst>
                <a:path w="4601210" h="1987169">
                  <a:moveTo>
                    <a:pt x="4601210" y="0"/>
                  </a:moveTo>
                  <a:lnTo>
                    <a:pt x="4601210" y="1987169"/>
                  </a:lnTo>
                  <a:lnTo>
                    <a:pt x="0" y="1987169"/>
                  </a:lnTo>
                  <a:lnTo>
                    <a:pt x="0" y="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210" cy="2034794"/>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408934" y="9193555"/>
            <a:ext cx="755149" cy="652980"/>
            <a:chOff x="0" y="0"/>
            <a:chExt cx="198887" cy="171978"/>
          </a:xfrm>
        </p:grpSpPr>
        <p:sp>
          <p:nvSpPr>
            <p:cNvPr id="15" name="Freeform 15"/>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6" name="TextBox 16"/>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7123917"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1" name="Freeform 21"/>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nvGrpSpPr>
          <p:cNvPr id="22" name="Group 22"/>
          <p:cNvGrpSpPr/>
          <p:nvPr/>
        </p:nvGrpSpPr>
        <p:grpSpPr>
          <a:xfrm>
            <a:off x="11021842" y="9193555"/>
            <a:ext cx="1271608" cy="652980"/>
            <a:chOff x="0" y="0"/>
            <a:chExt cx="334909" cy="171978"/>
          </a:xfrm>
        </p:grpSpPr>
        <p:sp>
          <p:nvSpPr>
            <p:cNvPr id="23" name="Freeform 23"/>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24" name="TextBox 24"/>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6234241" y="2672811"/>
            <a:ext cx="6269485" cy="1356489"/>
          </a:xfrm>
          <a:custGeom>
            <a:avLst/>
            <a:gdLst/>
            <a:ahLst/>
            <a:cxnLst/>
            <a:rect l="l" t="t" r="r" b="b"/>
            <a:pathLst>
              <a:path w="6269485" h="1356489">
                <a:moveTo>
                  <a:pt x="0" y="0"/>
                </a:moveTo>
                <a:lnTo>
                  <a:pt x="6269485" y="0"/>
                </a:lnTo>
                <a:lnTo>
                  <a:pt x="6269485" y="1356489"/>
                </a:lnTo>
                <a:lnTo>
                  <a:pt x="0" y="1356489"/>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GB"/>
          </a:p>
        </p:txBody>
      </p:sp>
      <p:sp>
        <p:nvSpPr>
          <p:cNvPr id="26" name="TextBox 26"/>
          <p:cNvSpPr txBox="1"/>
          <p:nvPr/>
        </p:nvSpPr>
        <p:spPr>
          <a:xfrm>
            <a:off x="6402609" y="3008480"/>
            <a:ext cx="5890840" cy="780402"/>
          </a:xfrm>
          <a:prstGeom prst="rect">
            <a:avLst/>
          </a:prstGeom>
        </p:spPr>
        <p:txBody>
          <a:bodyPr lIns="0" tIns="0" rIns="0" bIns="0" rtlCol="0" anchor="t">
            <a:spAutoFit/>
          </a:bodyPr>
          <a:lstStyle/>
          <a:p>
            <a:pPr algn="ctr">
              <a:lnSpc>
                <a:spcPts val="2903"/>
              </a:lnSpc>
            </a:pPr>
            <a:r>
              <a:rPr lang="en-US" sz="3416" b="1" spc="-116">
                <a:solidFill>
                  <a:srgbClr val="000000"/>
                </a:solidFill>
                <a:latin typeface="Anonymous Pro Bold"/>
                <a:ea typeface="Anonymous Pro Bold"/>
                <a:cs typeface="Anonymous Pro Bold"/>
                <a:sym typeface="Anonymous Pro Bold"/>
              </a:rPr>
              <a:t>SIMULATION FLOW (THE ALGORITHM)</a:t>
            </a:r>
          </a:p>
        </p:txBody>
      </p:sp>
      <p:sp>
        <p:nvSpPr>
          <p:cNvPr id="27" name="Freeform 27"/>
          <p:cNvSpPr/>
          <p:nvPr/>
        </p:nvSpPr>
        <p:spPr>
          <a:xfrm rot="-82828">
            <a:off x="5711269" y="2405471"/>
            <a:ext cx="1045944" cy="1015517"/>
          </a:xfrm>
          <a:custGeom>
            <a:avLst/>
            <a:gdLst/>
            <a:ahLst/>
            <a:cxnLst/>
            <a:rect l="l" t="t" r="r" b="b"/>
            <a:pathLst>
              <a:path w="1045944" h="1015517">
                <a:moveTo>
                  <a:pt x="0" y="0"/>
                </a:moveTo>
                <a:lnTo>
                  <a:pt x="1045944" y="0"/>
                </a:lnTo>
                <a:lnTo>
                  <a:pt x="1045944" y="1015517"/>
                </a:lnTo>
                <a:lnTo>
                  <a:pt x="0" y="101551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28" name="Freeform 28"/>
          <p:cNvSpPr/>
          <p:nvPr/>
        </p:nvSpPr>
        <p:spPr>
          <a:xfrm>
            <a:off x="11021842" y="3725962"/>
            <a:ext cx="356284" cy="606675"/>
          </a:xfrm>
          <a:custGeom>
            <a:avLst/>
            <a:gdLst/>
            <a:ahLst/>
            <a:cxnLst/>
            <a:rect l="l" t="t" r="r" b="b"/>
            <a:pathLst>
              <a:path w="356284" h="606675">
                <a:moveTo>
                  <a:pt x="0" y="0"/>
                </a:moveTo>
                <a:lnTo>
                  <a:pt x="356284" y="0"/>
                </a:lnTo>
                <a:lnTo>
                  <a:pt x="356284" y="606675"/>
                </a:lnTo>
                <a:lnTo>
                  <a:pt x="0" y="60667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29" name="TextBox 29"/>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30" name="TextBox 30"/>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31" name="TextBox 31"/>
          <p:cNvSpPr txBox="1"/>
          <p:nvPr/>
        </p:nvSpPr>
        <p:spPr>
          <a:xfrm>
            <a:off x="2544931"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Content</a:t>
            </a:r>
          </a:p>
        </p:txBody>
      </p:sp>
      <p:sp>
        <p:nvSpPr>
          <p:cNvPr id="32" name="TextBox 32"/>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id="33" name="TextBox 33"/>
          <p:cNvSpPr txBox="1"/>
          <p:nvPr/>
        </p:nvSpPr>
        <p:spPr>
          <a:xfrm>
            <a:off x="1192688" y="4781775"/>
            <a:ext cx="6951449" cy="3999726"/>
          </a:xfrm>
          <a:prstGeom prst="rect">
            <a:avLst/>
          </a:prstGeom>
        </p:spPr>
        <p:txBody>
          <a:bodyPr lIns="0" tIns="0" rIns="0" bIns="0" rtlCol="0" anchor="t">
            <a:spAutoFit/>
          </a:bodyPr>
          <a:lstStyle/>
          <a:p>
            <a:pPr algn="l">
              <a:lnSpc>
                <a:spcPts val="3219"/>
              </a:lnSpc>
            </a:pPr>
            <a:r>
              <a:rPr lang="en-US" sz="2299" b="1">
                <a:solidFill>
                  <a:srgbClr val="000000"/>
                </a:solidFill>
                <a:latin typeface="Cousine Bold"/>
                <a:ea typeface="Cousine Bold"/>
                <a:cs typeface="Cousine Bold"/>
                <a:sym typeface="Cousine Bold"/>
              </a:rPr>
              <a:t>For each address in the trace file:</a:t>
            </a:r>
          </a:p>
          <a:p>
            <a:pPr marL="496567" lvl="1" indent="-248284" algn="l">
              <a:lnSpc>
                <a:spcPts val="3219"/>
              </a:lnSpc>
              <a:buAutoNum type="arabicPeriod"/>
            </a:pPr>
            <a:r>
              <a:rPr lang="en-US" sz="2299">
                <a:solidFill>
                  <a:srgbClr val="000000"/>
                </a:solidFill>
                <a:latin typeface="Cousine"/>
                <a:ea typeface="Cousine"/>
                <a:cs typeface="Cousine"/>
                <a:sym typeface="Cousine"/>
              </a:rPr>
              <a:t>Parse the address to get tag and index.</a:t>
            </a:r>
          </a:p>
          <a:p>
            <a:pPr marL="496567" lvl="1" indent="-248284" algn="l">
              <a:lnSpc>
                <a:spcPts val="3219"/>
              </a:lnSpc>
              <a:spcBef>
                <a:spcPct val="0"/>
              </a:spcBef>
              <a:buAutoNum type="arabicPeriod"/>
            </a:pPr>
            <a:r>
              <a:rPr lang="en-US" sz="2299">
                <a:solidFill>
                  <a:srgbClr val="000000"/>
                </a:solidFill>
                <a:latin typeface="Cousine"/>
                <a:ea typeface="Cousine"/>
                <a:cs typeface="Cousine"/>
                <a:sym typeface="Cousine"/>
              </a:rPr>
              <a:t>Go to the correct set using the index.</a:t>
            </a:r>
          </a:p>
          <a:p>
            <a:pPr marL="496567" lvl="1" indent="-248284" algn="l">
              <a:lnSpc>
                <a:spcPts val="3219"/>
              </a:lnSpc>
              <a:spcBef>
                <a:spcPct val="0"/>
              </a:spcBef>
              <a:buAutoNum type="arabicPeriod"/>
            </a:pPr>
            <a:r>
              <a:rPr lang="en-US" sz="2299" b="1">
                <a:solidFill>
                  <a:srgbClr val="000000"/>
                </a:solidFill>
                <a:latin typeface="Cousine Bold"/>
                <a:ea typeface="Cousine Bold"/>
                <a:cs typeface="Cousine Bold"/>
                <a:sym typeface="Cousine Bold"/>
              </a:rPr>
              <a:t>Check for Hit:</a:t>
            </a:r>
            <a:r>
              <a:rPr lang="en-US" sz="2299">
                <a:solidFill>
                  <a:srgbClr val="000000"/>
                </a:solidFill>
                <a:latin typeface="Cousine"/>
                <a:ea typeface="Cousine"/>
                <a:cs typeface="Cousine"/>
                <a:sym typeface="Cousine"/>
              </a:rPr>
              <a:t> Iterate through all N lines in the set.</a:t>
            </a:r>
          </a:p>
          <a:p>
            <a:pPr marL="993135" lvl="2" indent="-331045" algn="l">
              <a:lnSpc>
                <a:spcPts val="3219"/>
              </a:lnSpc>
              <a:spcBef>
                <a:spcPct val="0"/>
              </a:spcBef>
              <a:buFont typeface="Arial"/>
              <a:buChar char="⚬"/>
            </a:pPr>
            <a:r>
              <a:rPr lang="en-US" sz="2299">
                <a:solidFill>
                  <a:srgbClr val="000000"/>
                </a:solidFill>
                <a:latin typeface="Cousine"/>
                <a:ea typeface="Cousine"/>
                <a:cs typeface="Cousine"/>
                <a:sym typeface="Cousine"/>
              </a:rPr>
              <a:t>if </a:t>
            </a:r>
            <a:r>
              <a:rPr lang="en-US" sz="2299" b="1">
                <a:solidFill>
                  <a:srgbClr val="000000"/>
                </a:solidFill>
                <a:latin typeface="Cousine Bold"/>
                <a:ea typeface="Cousine Bold"/>
                <a:cs typeface="Cousine Bold"/>
                <a:sym typeface="Cousine Bold"/>
              </a:rPr>
              <a:t>(line-&gt;valid &amp;&amp; line-&gt;tag == tag) -&gt; HIT</a:t>
            </a:r>
          </a:p>
          <a:p>
            <a:pPr algn="ctr">
              <a:lnSpc>
                <a:spcPts val="3219"/>
              </a:lnSpc>
              <a:spcBef>
                <a:spcPct val="0"/>
              </a:spcBef>
            </a:pPr>
            <a:endParaRPr lang="en-US" sz="2299" b="1">
              <a:solidFill>
                <a:srgbClr val="000000"/>
              </a:solidFill>
              <a:latin typeface="Cousine Bold"/>
              <a:ea typeface="Cousine Bold"/>
              <a:cs typeface="Cousine Bold"/>
              <a:sym typeface="Cousine Bold"/>
            </a:endParaRPr>
          </a:p>
        </p:txBody>
      </p:sp>
      <p:sp>
        <p:nvSpPr>
          <p:cNvPr id="34" name="TextBox 34"/>
          <p:cNvSpPr txBox="1"/>
          <p:nvPr/>
        </p:nvSpPr>
        <p:spPr>
          <a:xfrm>
            <a:off x="9788504" y="4781775"/>
            <a:ext cx="6951449" cy="3199527"/>
          </a:xfrm>
          <a:prstGeom prst="rect">
            <a:avLst/>
          </a:prstGeom>
        </p:spPr>
        <p:txBody>
          <a:bodyPr lIns="0" tIns="0" rIns="0" bIns="0" rtlCol="0" anchor="t">
            <a:spAutoFit/>
          </a:bodyPr>
          <a:lstStyle/>
          <a:p>
            <a:pPr marL="496567" lvl="1" indent="-248284" algn="l">
              <a:lnSpc>
                <a:spcPts val="3219"/>
              </a:lnSpc>
              <a:buFont typeface="Arial"/>
              <a:buChar char="•"/>
            </a:pPr>
            <a:r>
              <a:rPr lang="en-US" sz="2299" b="1">
                <a:solidFill>
                  <a:srgbClr val="000000"/>
                </a:solidFill>
                <a:latin typeface="Cousine Bold"/>
                <a:ea typeface="Cousine Bold"/>
                <a:cs typeface="Cousine Bold"/>
                <a:sym typeface="Cousine Bold"/>
              </a:rPr>
              <a:t>Process Hit: </a:t>
            </a:r>
            <a:r>
              <a:rPr lang="en-US" sz="2299">
                <a:solidFill>
                  <a:srgbClr val="000000"/>
                </a:solidFill>
                <a:latin typeface="Cousine"/>
                <a:ea typeface="Cousine"/>
                <a:cs typeface="Cousine"/>
                <a:sym typeface="Cousine"/>
              </a:rPr>
              <a:t>Update LRU timestamp. Done.</a:t>
            </a:r>
          </a:p>
          <a:p>
            <a:pPr marL="496567" lvl="1" indent="-248284" algn="l">
              <a:lnSpc>
                <a:spcPts val="3219"/>
              </a:lnSpc>
              <a:spcBef>
                <a:spcPct val="0"/>
              </a:spcBef>
              <a:buFont typeface="Arial"/>
              <a:buChar char="•"/>
            </a:pPr>
            <a:r>
              <a:rPr lang="en-US" sz="2299" b="1">
                <a:solidFill>
                  <a:srgbClr val="000000"/>
                </a:solidFill>
                <a:latin typeface="Cousine Bold"/>
                <a:ea typeface="Cousine Bold"/>
                <a:cs typeface="Cousine Bold"/>
                <a:sym typeface="Cousine Bold"/>
              </a:rPr>
              <a:t>Process Miss:</a:t>
            </a:r>
            <a:r>
              <a:rPr lang="en-US" sz="2299">
                <a:solidFill>
                  <a:srgbClr val="000000"/>
                </a:solidFill>
                <a:latin typeface="Cousine"/>
                <a:ea typeface="Cousine"/>
                <a:cs typeface="Cousine"/>
                <a:sym typeface="Cousine"/>
              </a:rPr>
              <a:t> Find an empty (invalid) line in the set.</a:t>
            </a:r>
          </a:p>
          <a:p>
            <a:pPr marL="496567" lvl="1" indent="-248284" algn="l">
              <a:lnSpc>
                <a:spcPts val="3219"/>
              </a:lnSpc>
              <a:spcBef>
                <a:spcPct val="0"/>
              </a:spcBef>
              <a:buFont typeface="Arial"/>
              <a:buChar char="•"/>
            </a:pPr>
            <a:r>
              <a:rPr lang="en-US" sz="2299" b="1">
                <a:solidFill>
                  <a:srgbClr val="000000"/>
                </a:solidFill>
                <a:latin typeface="Cousine Bold"/>
                <a:ea typeface="Cousine Bold"/>
                <a:cs typeface="Cousine Bold"/>
                <a:sym typeface="Cousine Bold"/>
              </a:rPr>
              <a:t>Process Eviction:</a:t>
            </a:r>
            <a:r>
              <a:rPr lang="en-US" sz="2299">
                <a:solidFill>
                  <a:srgbClr val="000000"/>
                </a:solidFill>
                <a:latin typeface="Cousine"/>
                <a:ea typeface="Cousine"/>
                <a:cs typeface="Cousine"/>
                <a:sym typeface="Cousine"/>
              </a:rPr>
              <a:t> If no empty lines, call </a:t>
            </a:r>
            <a:r>
              <a:rPr lang="en-US" sz="2299" b="1">
                <a:solidFill>
                  <a:srgbClr val="000000"/>
                </a:solidFill>
                <a:latin typeface="Cousine Bold"/>
                <a:ea typeface="Cousine Bold"/>
                <a:cs typeface="Cousine Bold"/>
                <a:sym typeface="Cousine Bold"/>
              </a:rPr>
              <a:t>find_victim</a:t>
            </a:r>
            <a:r>
              <a:rPr lang="en-US" sz="2299">
                <a:solidFill>
                  <a:srgbClr val="000000"/>
                </a:solidFill>
                <a:latin typeface="Cousine"/>
                <a:ea typeface="Cousine"/>
                <a:cs typeface="Cousine"/>
                <a:sym typeface="Cousine"/>
              </a:rPr>
              <a:t>() (LRU/FIFO) to select a line, then replace it.</a:t>
            </a:r>
          </a:p>
          <a:p>
            <a:pPr algn="ctr">
              <a:lnSpc>
                <a:spcPts val="3219"/>
              </a:lnSpc>
              <a:spcBef>
                <a:spcPct val="0"/>
              </a:spcBef>
            </a:pPr>
            <a:endParaRPr lang="en-US" sz="2299">
              <a:solidFill>
                <a:srgbClr val="000000"/>
              </a:solidFill>
              <a:latin typeface="Cousine"/>
              <a:ea typeface="Cousine"/>
              <a:cs typeface="Cousine"/>
              <a:sym typeface="Cousin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402"/>
            <a:ext cx="17470132" cy="7545134"/>
            <a:chOff x="0" y="0"/>
            <a:chExt cx="4601210" cy="1987169"/>
          </a:xfrm>
        </p:grpSpPr>
        <p:sp>
          <p:nvSpPr>
            <p:cNvPr id="6" name="Freeform 6"/>
            <p:cNvSpPr/>
            <p:nvPr/>
          </p:nvSpPr>
          <p:spPr>
            <a:xfrm>
              <a:off x="0" y="0"/>
              <a:ext cx="4601210" cy="1987169"/>
            </a:xfrm>
            <a:custGeom>
              <a:avLst/>
              <a:gdLst/>
              <a:ahLst/>
              <a:cxnLst/>
              <a:rect l="l" t="t" r="r" b="b"/>
              <a:pathLst>
                <a:path w="4601210" h="1987169">
                  <a:moveTo>
                    <a:pt x="4601210" y="0"/>
                  </a:moveTo>
                  <a:lnTo>
                    <a:pt x="4601210" y="1987169"/>
                  </a:lnTo>
                  <a:lnTo>
                    <a:pt x="0" y="1987169"/>
                  </a:lnTo>
                  <a:lnTo>
                    <a:pt x="0" y="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210" cy="2034794"/>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408934" y="9193555"/>
            <a:ext cx="755149" cy="652980"/>
            <a:chOff x="0" y="0"/>
            <a:chExt cx="198887" cy="171978"/>
          </a:xfrm>
        </p:grpSpPr>
        <p:sp>
          <p:nvSpPr>
            <p:cNvPr id="15" name="Freeform 15"/>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6" name="TextBox 16"/>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7123917"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1" name="Freeform 21"/>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nvGrpSpPr>
          <p:cNvPr id="22" name="Group 22"/>
          <p:cNvGrpSpPr/>
          <p:nvPr/>
        </p:nvGrpSpPr>
        <p:grpSpPr>
          <a:xfrm>
            <a:off x="11021842" y="9193555"/>
            <a:ext cx="1271608" cy="652980"/>
            <a:chOff x="0" y="0"/>
            <a:chExt cx="334909" cy="171978"/>
          </a:xfrm>
        </p:grpSpPr>
        <p:sp>
          <p:nvSpPr>
            <p:cNvPr id="23" name="Freeform 23"/>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24" name="TextBox 24"/>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6769294" y="2548685"/>
            <a:ext cx="5744220" cy="1242840"/>
          </a:xfrm>
          <a:custGeom>
            <a:avLst/>
            <a:gdLst/>
            <a:ahLst/>
            <a:cxnLst/>
            <a:rect l="l" t="t" r="r" b="b"/>
            <a:pathLst>
              <a:path w="5744220" h="1242840">
                <a:moveTo>
                  <a:pt x="0" y="0"/>
                </a:moveTo>
                <a:lnTo>
                  <a:pt x="5744220" y="0"/>
                </a:lnTo>
                <a:lnTo>
                  <a:pt x="5744220" y="1242841"/>
                </a:lnTo>
                <a:lnTo>
                  <a:pt x="0" y="124284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GB"/>
          </a:p>
        </p:txBody>
      </p:sp>
      <p:sp>
        <p:nvSpPr>
          <p:cNvPr id="26" name="TextBox 26"/>
          <p:cNvSpPr txBox="1"/>
          <p:nvPr/>
        </p:nvSpPr>
        <p:spPr>
          <a:xfrm>
            <a:off x="6402609" y="3008480"/>
            <a:ext cx="5890840" cy="418502"/>
          </a:xfrm>
          <a:prstGeom prst="rect">
            <a:avLst/>
          </a:prstGeom>
        </p:spPr>
        <p:txBody>
          <a:bodyPr lIns="0" tIns="0" rIns="0" bIns="0" rtlCol="0" anchor="t">
            <a:spAutoFit/>
          </a:bodyPr>
          <a:lstStyle/>
          <a:p>
            <a:pPr algn="ctr">
              <a:lnSpc>
                <a:spcPts val="2903"/>
              </a:lnSpc>
            </a:pPr>
            <a:r>
              <a:rPr lang="en-US" sz="3416" b="1" spc="-116">
                <a:solidFill>
                  <a:srgbClr val="000000"/>
                </a:solidFill>
                <a:latin typeface="Anonymous Pro Bold"/>
                <a:ea typeface="Anonymous Pro Bold"/>
                <a:cs typeface="Anonymous Pro Bold"/>
                <a:sym typeface="Anonymous Pro Bold"/>
              </a:rPr>
              <a:t> RESULTS &amp; ANALYSIS</a:t>
            </a:r>
          </a:p>
        </p:txBody>
      </p:sp>
      <p:sp>
        <p:nvSpPr>
          <p:cNvPr id="27" name="Freeform 27"/>
          <p:cNvSpPr/>
          <p:nvPr/>
        </p:nvSpPr>
        <p:spPr>
          <a:xfrm rot="-82828">
            <a:off x="6148273" y="2405471"/>
            <a:ext cx="1045944" cy="1015517"/>
          </a:xfrm>
          <a:custGeom>
            <a:avLst/>
            <a:gdLst/>
            <a:ahLst/>
            <a:cxnLst/>
            <a:rect l="l" t="t" r="r" b="b"/>
            <a:pathLst>
              <a:path w="1045944" h="1015517">
                <a:moveTo>
                  <a:pt x="0" y="0"/>
                </a:moveTo>
                <a:lnTo>
                  <a:pt x="1045945" y="0"/>
                </a:lnTo>
                <a:lnTo>
                  <a:pt x="1045945" y="1015517"/>
                </a:lnTo>
                <a:lnTo>
                  <a:pt x="0" y="101551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28" name="Freeform 28"/>
          <p:cNvSpPr/>
          <p:nvPr/>
        </p:nvSpPr>
        <p:spPr>
          <a:xfrm>
            <a:off x="11479504" y="3433440"/>
            <a:ext cx="356284" cy="606675"/>
          </a:xfrm>
          <a:custGeom>
            <a:avLst/>
            <a:gdLst/>
            <a:ahLst/>
            <a:cxnLst/>
            <a:rect l="l" t="t" r="r" b="b"/>
            <a:pathLst>
              <a:path w="356284" h="606675">
                <a:moveTo>
                  <a:pt x="0" y="0"/>
                </a:moveTo>
                <a:lnTo>
                  <a:pt x="356284" y="0"/>
                </a:lnTo>
                <a:lnTo>
                  <a:pt x="356284" y="606675"/>
                </a:lnTo>
                <a:lnTo>
                  <a:pt x="0" y="60667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29" name="TextBox 29"/>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30" name="TextBox 30"/>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31" name="TextBox 31"/>
          <p:cNvSpPr txBox="1"/>
          <p:nvPr/>
        </p:nvSpPr>
        <p:spPr>
          <a:xfrm>
            <a:off x="2544931"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Content</a:t>
            </a:r>
          </a:p>
        </p:txBody>
      </p:sp>
      <p:sp>
        <p:nvSpPr>
          <p:cNvPr id="32" name="TextBox 32"/>
          <p:cNvSpPr txBox="1"/>
          <p:nvPr/>
        </p:nvSpPr>
        <p:spPr>
          <a:xfrm>
            <a:off x="5155770"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id="33" name="TextBox 33"/>
          <p:cNvSpPr txBox="1"/>
          <p:nvPr/>
        </p:nvSpPr>
        <p:spPr>
          <a:xfrm>
            <a:off x="1363214" y="4953295"/>
            <a:ext cx="6951449" cy="2399328"/>
          </a:xfrm>
          <a:prstGeom prst="rect">
            <a:avLst/>
          </a:prstGeom>
        </p:spPr>
        <p:txBody>
          <a:bodyPr lIns="0" tIns="0" rIns="0" bIns="0" rtlCol="0" anchor="t">
            <a:spAutoFit/>
          </a:bodyPr>
          <a:lstStyle/>
          <a:p>
            <a:pPr algn="l">
              <a:lnSpc>
                <a:spcPts val="3219"/>
              </a:lnSpc>
            </a:pPr>
            <a:r>
              <a:rPr lang="en-US" sz="2299" b="1">
                <a:solidFill>
                  <a:srgbClr val="000000"/>
                </a:solidFill>
                <a:latin typeface="Cousine Bold"/>
                <a:ea typeface="Cousine Bold"/>
                <a:cs typeface="Cousine Bold"/>
                <a:sym typeface="Cousine Bold"/>
              </a:rPr>
              <a:t>Result 1: Direct-Mapped (1-Way) / LRU</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Total Accesses: 14</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Total Hits: 4</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Total Misses: 10</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Hit Rate: 28.57%</a:t>
            </a:r>
          </a:p>
          <a:p>
            <a:pPr algn="ctr">
              <a:lnSpc>
                <a:spcPts val="3219"/>
              </a:lnSpc>
              <a:spcBef>
                <a:spcPct val="0"/>
              </a:spcBef>
            </a:pPr>
            <a:endParaRPr lang="en-US" sz="2299">
              <a:solidFill>
                <a:srgbClr val="000000"/>
              </a:solidFill>
              <a:latin typeface="Cousine"/>
              <a:ea typeface="Cousine"/>
              <a:cs typeface="Cousine"/>
              <a:sym typeface="Cousine"/>
            </a:endParaRPr>
          </a:p>
        </p:txBody>
      </p:sp>
      <p:sp>
        <p:nvSpPr>
          <p:cNvPr id="34" name="TextBox 34"/>
          <p:cNvSpPr txBox="1"/>
          <p:nvPr/>
        </p:nvSpPr>
        <p:spPr>
          <a:xfrm>
            <a:off x="9788504" y="4881980"/>
            <a:ext cx="6951449" cy="2799427"/>
          </a:xfrm>
          <a:prstGeom prst="rect">
            <a:avLst/>
          </a:prstGeom>
        </p:spPr>
        <p:txBody>
          <a:bodyPr lIns="0" tIns="0" rIns="0" bIns="0" rtlCol="0" anchor="t">
            <a:spAutoFit/>
          </a:bodyPr>
          <a:lstStyle/>
          <a:p>
            <a:pPr marL="496567" lvl="1" indent="-248284" algn="l">
              <a:lnSpc>
                <a:spcPts val="3219"/>
              </a:lnSpc>
              <a:buFont typeface="Arial"/>
              <a:buChar char="•"/>
            </a:pPr>
            <a:r>
              <a:rPr lang="en-US" sz="2299" b="1">
                <a:solidFill>
                  <a:srgbClr val="000000"/>
                </a:solidFill>
                <a:latin typeface="Cousine Bold"/>
                <a:ea typeface="Cousine Bold"/>
                <a:cs typeface="Cousine Bold"/>
                <a:sym typeface="Cousine Bold"/>
              </a:rPr>
              <a:t>Result 2: 4-Way Set-Associative / LRU</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(You would run this to get the number)</a:t>
            </a:r>
          </a:p>
          <a:p>
            <a:pPr marL="496567" lvl="1" indent="-248284" algn="l">
              <a:lnSpc>
                <a:spcPts val="3219"/>
              </a:lnSpc>
              <a:spcBef>
                <a:spcPct val="0"/>
              </a:spcBef>
              <a:buFont typeface="Arial"/>
              <a:buChar char="•"/>
            </a:pPr>
            <a:r>
              <a:rPr lang="en-US" sz="2299">
                <a:solidFill>
                  <a:srgbClr val="000000"/>
                </a:solidFill>
                <a:latin typeface="Cousine"/>
                <a:ea typeface="Cousine"/>
                <a:cs typeface="Cousine"/>
                <a:sym typeface="Cousine"/>
              </a:rPr>
              <a:t>Example: Hit Rate: 42.86% (6 Hits / 14 Accesses)</a:t>
            </a:r>
          </a:p>
          <a:p>
            <a:pPr algn="ctr">
              <a:lnSpc>
                <a:spcPts val="3219"/>
              </a:lnSpc>
              <a:spcBef>
                <a:spcPct val="0"/>
              </a:spcBef>
            </a:pPr>
            <a:endParaRPr lang="en-US" sz="2299">
              <a:solidFill>
                <a:srgbClr val="000000"/>
              </a:solidFill>
              <a:latin typeface="Cousine"/>
              <a:ea typeface="Cousine"/>
              <a:cs typeface="Cousine"/>
              <a:sym typeface="Cousine"/>
            </a:endParaRPr>
          </a:p>
        </p:txBody>
      </p:sp>
      <p:sp>
        <p:nvSpPr>
          <p:cNvPr id="35" name="TextBox 35"/>
          <p:cNvSpPr txBox="1"/>
          <p:nvPr/>
        </p:nvSpPr>
        <p:spPr>
          <a:xfrm>
            <a:off x="4838939" y="3992490"/>
            <a:ext cx="9316509" cy="398830"/>
          </a:xfrm>
          <a:prstGeom prst="rect">
            <a:avLst/>
          </a:prstGeom>
        </p:spPr>
        <p:txBody>
          <a:bodyPr lIns="0" tIns="0" rIns="0" bIns="0" rtlCol="0" anchor="t">
            <a:spAutoFit/>
          </a:bodyPr>
          <a:lstStyle/>
          <a:p>
            <a:pPr algn="ctr">
              <a:lnSpc>
                <a:spcPts val="3219"/>
              </a:lnSpc>
              <a:spcBef>
                <a:spcPct val="0"/>
              </a:spcBef>
            </a:pPr>
            <a:r>
              <a:rPr lang="en-US" sz="2299" b="1" i="1">
                <a:solidFill>
                  <a:srgbClr val="000000"/>
                </a:solidFill>
                <a:latin typeface="Cousine Bold Italics"/>
                <a:ea typeface="Cousine Bold Italics"/>
                <a:cs typeface="Cousine Bold Italics"/>
                <a:sym typeface="Cousine Bold Italics"/>
              </a:rPr>
              <a:t>Test Case: 1024-byte cache, 64-byte blocks, trace.txt</a:t>
            </a:r>
          </a:p>
        </p:txBody>
      </p:sp>
      <p:sp>
        <p:nvSpPr>
          <p:cNvPr id="36" name="TextBox 36"/>
          <p:cNvSpPr txBox="1"/>
          <p:nvPr/>
        </p:nvSpPr>
        <p:spPr>
          <a:xfrm>
            <a:off x="1128287" y="7929057"/>
            <a:ext cx="16373205" cy="772845"/>
          </a:xfrm>
          <a:prstGeom prst="rect">
            <a:avLst/>
          </a:prstGeom>
        </p:spPr>
        <p:txBody>
          <a:bodyPr lIns="0" tIns="0" rIns="0" bIns="0" rtlCol="0" anchor="t">
            <a:spAutoFit/>
          </a:bodyPr>
          <a:lstStyle/>
          <a:p>
            <a:pPr algn="l">
              <a:lnSpc>
                <a:spcPts val="3079"/>
              </a:lnSpc>
              <a:spcBef>
                <a:spcPct val="0"/>
              </a:spcBef>
            </a:pPr>
            <a:r>
              <a:rPr lang="en-US" sz="2199" b="1">
                <a:solidFill>
                  <a:srgbClr val="000000"/>
                </a:solidFill>
                <a:latin typeface="Cousine Bold"/>
                <a:ea typeface="Cousine Bold"/>
                <a:cs typeface="Cousine Bold"/>
                <a:sym typeface="Cousine Bold"/>
              </a:rPr>
              <a:t>Analysis</a:t>
            </a:r>
            <a:r>
              <a:rPr lang="en-US" sz="2199">
                <a:solidFill>
                  <a:srgbClr val="000000"/>
                </a:solidFill>
                <a:latin typeface="Cousine"/>
                <a:ea typeface="Cousine"/>
                <a:cs typeface="Cousine"/>
                <a:sym typeface="Cousine"/>
              </a:rPr>
              <a:t>: Simply by changing from direct-mapped to 4-way, our hit rate jumped significantly. This proves the new design reduced conflict misses for this specific workload.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100216"/>
            <a:ext cx="17470132" cy="7544923"/>
            <a:chOff x="0" y="0"/>
            <a:chExt cx="4601187" cy="1987140"/>
          </a:xfrm>
        </p:grpSpPr>
        <p:sp>
          <p:nvSpPr>
            <p:cNvPr id="6" name="Freeform 6"/>
            <p:cNvSpPr/>
            <p:nvPr/>
          </p:nvSpPr>
          <p:spPr>
            <a:xfrm>
              <a:off x="0" y="0"/>
              <a:ext cx="4601187" cy="1987140"/>
            </a:xfrm>
            <a:custGeom>
              <a:avLst/>
              <a:gdLst/>
              <a:ahLst/>
              <a:cxnLst/>
              <a:rect l="l" t="t" r="r" b="b"/>
              <a:pathLst>
                <a:path w="4601187" h="1987140">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187" cy="203476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5886058" y="9193555"/>
            <a:ext cx="1271608" cy="652980"/>
            <a:chOff x="0" y="0"/>
            <a:chExt cx="334909" cy="171978"/>
          </a:xfrm>
        </p:grpSpPr>
        <p:sp>
          <p:nvSpPr>
            <p:cNvPr id="15" name="Freeform 15"/>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16" name="TextBox 16"/>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408934"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17123917" y="9193555"/>
            <a:ext cx="755149" cy="652980"/>
            <a:chOff x="0" y="0"/>
            <a:chExt cx="198887" cy="171978"/>
          </a:xfrm>
        </p:grpSpPr>
        <p:sp>
          <p:nvSpPr>
            <p:cNvPr id="21" name="Freeform 21"/>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22" name="TextBox 22"/>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3" name="Freeform 23"/>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4" name="Freeform 24"/>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5" name="TextBox 25"/>
          <p:cNvSpPr txBox="1"/>
          <p:nvPr/>
        </p:nvSpPr>
        <p:spPr>
          <a:xfrm>
            <a:off x="3884679" y="3627641"/>
            <a:ext cx="10211437" cy="1792486"/>
          </a:xfrm>
          <a:prstGeom prst="rect">
            <a:avLst/>
          </a:prstGeom>
        </p:spPr>
        <p:txBody>
          <a:bodyPr lIns="0" tIns="0" rIns="0" bIns="0" rtlCol="0" anchor="t">
            <a:spAutoFit/>
          </a:bodyPr>
          <a:lstStyle/>
          <a:p>
            <a:pPr algn="ctr">
              <a:lnSpc>
                <a:spcPts val="13499"/>
              </a:lnSpc>
            </a:pPr>
            <a:r>
              <a:rPr lang="en-US" sz="13499" b="1" spc="-458">
                <a:solidFill>
                  <a:srgbClr val="0057CC"/>
                </a:solidFill>
                <a:latin typeface="Anonymous Pro Bold"/>
                <a:ea typeface="Anonymous Pro Bold"/>
                <a:cs typeface="Anonymous Pro Bold"/>
                <a:sym typeface="Anonymous Pro Bold"/>
              </a:rPr>
              <a:t>CONCLUSION</a:t>
            </a:r>
          </a:p>
        </p:txBody>
      </p:sp>
      <p:sp>
        <p:nvSpPr>
          <p:cNvPr id="26" name="TextBox 26"/>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27" name="TextBox 27"/>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28" name="TextBox 28"/>
          <p:cNvSpPr txBox="1"/>
          <p:nvPr/>
        </p:nvSpPr>
        <p:spPr>
          <a:xfrm>
            <a:off x="2544931"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Content</a:t>
            </a:r>
          </a:p>
        </p:txBody>
      </p:sp>
      <p:sp>
        <p:nvSpPr>
          <p:cNvPr id="29" name="TextBox 29"/>
          <p:cNvSpPr txBox="1"/>
          <p:nvPr/>
        </p:nvSpPr>
        <p:spPr>
          <a:xfrm>
            <a:off x="5155770"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Contact</a:t>
            </a:r>
          </a:p>
        </p:txBody>
      </p:sp>
      <p:sp>
        <p:nvSpPr>
          <p:cNvPr id="30" name="TextBox 30"/>
          <p:cNvSpPr txBox="1"/>
          <p:nvPr/>
        </p:nvSpPr>
        <p:spPr>
          <a:xfrm>
            <a:off x="4155693" y="5848752"/>
            <a:ext cx="9940424" cy="1776667"/>
          </a:xfrm>
          <a:prstGeom prst="rect">
            <a:avLst/>
          </a:prstGeom>
        </p:spPr>
        <p:txBody>
          <a:bodyPr lIns="0" tIns="0" rIns="0" bIns="0" rtlCol="0" anchor="t">
            <a:spAutoFit/>
          </a:bodyPr>
          <a:lstStyle/>
          <a:p>
            <a:pPr algn="just">
              <a:lnSpc>
                <a:spcPts val="2811"/>
              </a:lnSpc>
            </a:pPr>
            <a:r>
              <a:rPr lang="en-US" sz="2248">
                <a:solidFill>
                  <a:srgbClr val="000000"/>
                </a:solidFill>
                <a:latin typeface="Cousine"/>
                <a:ea typeface="Cousine"/>
                <a:cs typeface="Cousine"/>
                <a:sym typeface="Cousine"/>
              </a:rPr>
              <a:t>Successfully built a functional, modular cache simulator in C.</a:t>
            </a:r>
          </a:p>
          <a:p>
            <a:pPr algn="just">
              <a:lnSpc>
                <a:spcPts val="2811"/>
              </a:lnSpc>
            </a:pPr>
            <a:r>
              <a:rPr lang="en-US" sz="2248">
                <a:solidFill>
                  <a:srgbClr val="000000"/>
                </a:solidFill>
                <a:latin typeface="Cousine"/>
                <a:ea typeface="Cousine"/>
                <a:cs typeface="Cousine"/>
                <a:sym typeface="Cousine"/>
              </a:rPr>
              <a:t>The tool allows for empirical testing of cache designs.</a:t>
            </a:r>
          </a:p>
          <a:p>
            <a:pPr algn="just">
              <a:lnSpc>
                <a:spcPts val="2811"/>
              </a:lnSpc>
            </a:pPr>
            <a:r>
              <a:rPr lang="en-US" sz="2248">
                <a:solidFill>
                  <a:srgbClr val="000000"/>
                </a:solidFill>
                <a:latin typeface="Cousine"/>
                <a:ea typeface="Cousine"/>
                <a:cs typeface="Cousine"/>
                <a:sym typeface="Cousine"/>
              </a:rPr>
              <a:t>It clearly demonstrates the performance trade-offs between different cache organizations and policies.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613"/>
            <a:ext cx="17470132" cy="7544923"/>
            <a:chOff x="0" y="0"/>
            <a:chExt cx="4601187" cy="1987140"/>
          </a:xfrm>
        </p:grpSpPr>
        <p:sp>
          <p:nvSpPr>
            <p:cNvPr id="6" name="Freeform 6"/>
            <p:cNvSpPr/>
            <p:nvPr/>
          </p:nvSpPr>
          <p:spPr>
            <a:xfrm>
              <a:off x="0" y="0"/>
              <a:ext cx="4601187" cy="1987140"/>
            </a:xfrm>
            <a:custGeom>
              <a:avLst/>
              <a:gdLst/>
              <a:ahLst/>
              <a:cxnLst/>
              <a:rect l="l" t="t" r="r" b="b"/>
              <a:pathLst>
                <a:path w="4601187" h="1987140">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187" cy="203476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5886058" y="9193555"/>
            <a:ext cx="1271608" cy="652980"/>
            <a:chOff x="0" y="0"/>
            <a:chExt cx="334909" cy="171978"/>
          </a:xfrm>
        </p:grpSpPr>
        <p:sp>
          <p:nvSpPr>
            <p:cNvPr id="15" name="Freeform 15"/>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16" name="TextBox 16"/>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408934"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17123917" y="9193555"/>
            <a:ext cx="755149" cy="652980"/>
            <a:chOff x="0" y="0"/>
            <a:chExt cx="198887" cy="171978"/>
          </a:xfrm>
        </p:grpSpPr>
        <p:sp>
          <p:nvSpPr>
            <p:cNvPr id="21" name="Freeform 21"/>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22" name="TextBox 22"/>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3" name="Freeform 23"/>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4" name="Freeform 24"/>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5" name="TextBox 25"/>
          <p:cNvSpPr txBox="1"/>
          <p:nvPr/>
        </p:nvSpPr>
        <p:spPr>
          <a:xfrm>
            <a:off x="3730743" y="3230635"/>
            <a:ext cx="10826514" cy="1792486"/>
          </a:xfrm>
          <a:prstGeom prst="rect">
            <a:avLst/>
          </a:prstGeom>
        </p:spPr>
        <p:txBody>
          <a:bodyPr lIns="0" tIns="0" rIns="0" bIns="0" rtlCol="0" anchor="t">
            <a:spAutoFit/>
          </a:bodyPr>
          <a:lstStyle/>
          <a:p>
            <a:pPr algn="ctr">
              <a:lnSpc>
                <a:spcPts val="13499"/>
              </a:lnSpc>
            </a:pPr>
            <a:r>
              <a:rPr lang="en-US" sz="13499" b="1" spc="-458">
                <a:solidFill>
                  <a:srgbClr val="0057CC"/>
                </a:solidFill>
                <a:latin typeface="Anonymous Pro Bold"/>
                <a:ea typeface="Anonymous Pro Bold"/>
                <a:cs typeface="Anonymous Pro Bold"/>
                <a:sym typeface="Anonymous Pro Bold"/>
              </a:rPr>
              <a:t>FUTURE WORK</a:t>
            </a:r>
          </a:p>
        </p:txBody>
      </p:sp>
      <p:sp>
        <p:nvSpPr>
          <p:cNvPr id="26" name="TextBox 26"/>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27" name="TextBox 27"/>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28" name="TextBox 28"/>
          <p:cNvSpPr txBox="1"/>
          <p:nvPr/>
        </p:nvSpPr>
        <p:spPr>
          <a:xfrm>
            <a:off x="2544931"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Content</a:t>
            </a:r>
          </a:p>
        </p:txBody>
      </p:sp>
      <p:sp>
        <p:nvSpPr>
          <p:cNvPr id="29" name="TextBox 29"/>
          <p:cNvSpPr txBox="1"/>
          <p:nvPr/>
        </p:nvSpPr>
        <p:spPr>
          <a:xfrm>
            <a:off x="5155770"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Contact</a:t>
            </a:r>
          </a:p>
        </p:txBody>
      </p:sp>
      <p:sp>
        <p:nvSpPr>
          <p:cNvPr id="30" name="TextBox 30"/>
          <p:cNvSpPr txBox="1"/>
          <p:nvPr/>
        </p:nvSpPr>
        <p:spPr>
          <a:xfrm>
            <a:off x="3730743" y="6776168"/>
            <a:ext cx="10826514" cy="1757885"/>
          </a:xfrm>
          <a:prstGeom prst="rect">
            <a:avLst/>
          </a:prstGeom>
        </p:spPr>
        <p:txBody>
          <a:bodyPr lIns="0" tIns="0" rIns="0" bIns="0" rtlCol="0" anchor="t">
            <a:spAutoFit/>
          </a:bodyPr>
          <a:lstStyle/>
          <a:p>
            <a:pPr marL="485540" lvl="1" indent="-242770" algn="just">
              <a:lnSpc>
                <a:spcPts val="2811"/>
              </a:lnSpc>
              <a:buFont typeface="Arial"/>
              <a:buChar char="•"/>
            </a:pPr>
            <a:r>
              <a:rPr lang="en-US" sz="2248">
                <a:solidFill>
                  <a:srgbClr val="000000"/>
                </a:solidFill>
                <a:latin typeface="Cousine"/>
                <a:ea typeface="Cousine"/>
                <a:cs typeface="Cousine"/>
                <a:sym typeface="Cousine"/>
              </a:rPr>
              <a:t>Implement Write Policies (Write-Back, Write-Through).</a:t>
            </a:r>
          </a:p>
          <a:p>
            <a:pPr marL="485540" lvl="1" indent="-242770" algn="just">
              <a:lnSpc>
                <a:spcPts val="2811"/>
              </a:lnSpc>
              <a:buFont typeface="Arial"/>
              <a:buChar char="•"/>
            </a:pPr>
            <a:r>
              <a:rPr lang="en-US" sz="2248">
                <a:solidFill>
                  <a:srgbClr val="000000"/>
                </a:solidFill>
                <a:latin typeface="Cousine"/>
                <a:ea typeface="Cousine"/>
                <a:cs typeface="Cousine"/>
                <a:sym typeface="Cousine"/>
              </a:rPr>
              <a:t>Simulate a Multi-Level Cache (L1, L2, L3).</a:t>
            </a:r>
          </a:p>
          <a:p>
            <a:pPr marL="485540" lvl="1" indent="-242770" algn="just">
              <a:lnSpc>
                <a:spcPts val="2811"/>
              </a:lnSpc>
              <a:buFont typeface="Arial"/>
              <a:buChar char="•"/>
            </a:pPr>
            <a:r>
              <a:rPr lang="en-US" sz="2248">
                <a:solidFill>
                  <a:srgbClr val="000000"/>
                </a:solidFill>
                <a:latin typeface="Cousine"/>
                <a:ea typeface="Cousine"/>
                <a:cs typeface="Cousine"/>
                <a:sym typeface="Cousine"/>
              </a:rPr>
              <a:t>Add advanced stats to categorize misses (Compulsory, Capacity, Conflict).</a:t>
            </a:r>
          </a:p>
          <a:p>
            <a:pPr algn="just">
              <a:lnSpc>
                <a:spcPts val="2686"/>
              </a:lnSpc>
            </a:pPr>
            <a:endParaRPr lang="en-US" sz="2248">
              <a:solidFill>
                <a:srgbClr val="000000"/>
              </a:solidFill>
              <a:latin typeface="Cousine"/>
              <a:ea typeface="Cousine"/>
              <a:cs typeface="Cousine"/>
              <a:sym typeface="Cousine"/>
            </a:endParaRPr>
          </a:p>
        </p:txBody>
      </p:sp>
      <p:sp>
        <p:nvSpPr>
          <p:cNvPr id="31" name="Freeform 31"/>
          <p:cNvSpPr/>
          <p:nvPr/>
        </p:nvSpPr>
        <p:spPr>
          <a:xfrm>
            <a:off x="6764092" y="5201194"/>
            <a:ext cx="4759816" cy="891384"/>
          </a:xfrm>
          <a:custGeom>
            <a:avLst/>
            <a:gdLst/>
            <a:ahLst/>
            <a:cxnLst/>
            <a:rect l="l" t="t" r="r" b="b"/>
            <a:pathLst>
              <a:path w="4759816" h="891384">
                <a:moveTo>
                  <a:pt x="0" y="0"/>
                </a:moveTo>
                <a:lnTo>
                  <a:pt x="4759816" y="0"/>
                </a:lnTo>
                <a:lnTo>
                  <a:pt x="4759816" y="891384"/>
                </a:lnTo>
                <a:lnTo>
                  <a:pt x="0" y="89138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ACACA"/>
        </a:solidFill>
        <a:effectLst/>
      </p:bgPr>
    </p:bg>
    <p:spTree>
      <p:nvGrpSpPr>
        <p:cNvPr id="1" name=""/>
        <p:cNvGrpSpPr/>
        <p:nvPr/>
      </p:nvGrpSpPr>
      <p:grpSpPr>
        <a:xfrm>
          <a:off x="0" y="0"/>
          <a:ext cx="0" cy="0"/>
          <a:chOff x="0" y="0"/>
          <a:chExt cx="0" cy="0"/>
        </a:xfrm>
      </p:grpSpPr>
      <p:grpSp>
        <p:nvGrpSpPr>
          <p:cNvPr id="2" name="Group 2"/>
          <p:cNvGrpSpPr/>
          <p:nvPr/>
        </p:nvGrpSpPr>
        <p:grpSpPr>
          <a:xfrm>
            <a:off x="408934" y="440465"/>
            <a:ext cx="17470132" cy="957120"/>
            <a:chOff x="0" y="0"/>
            <a:chExt cx="4601187" cy="252081"/>
          </a:xfrm>
        </p:grpSpPr>
        <p:sp>
          <p:nvSpPr>
            <p:cNvPr id="3" name="Freeform 3"/>
            <p:cNvSpPr/>
            <p:nvPr/>
          </p:nvSpPr>
          <p:spPr>
            <a:xfrm>
              <a:off x="0" y="0"/>
              <a:ext cx="4601187" cy="252081"/>
            </a:xfrm>
            <a:custGeom>
              <a:avLst/>
              <a:gdLst/>
              <a:ahLst/>
              <a:cxnLst/>
              <a:rect l="l" t="t" r="r" b="b"/>
              <a:pathLst>
                <a:path w="4601187" h="252081">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txBody>
            <a:bodyPr/>
            <a:lstStyle/>
            <a:p>
              <a:endParaRPr lang="en-GB"/>
            </a:p>
          </p:txBody>
        </p:sp>
        <p:sp>
          <p:nvSpPr>
            <p:cNvPr id="4" name="TextBox 4"/>
            <p:cNvSpPr txBox="1"/>
            <p:nvPr/>
          </p:nvSpPr>
          <p:spPr>
            <a:xfrm>
              <a:off x="0" y="-47625"/>
              <a:ext cx="4601187" cy="29970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8934" y="2301613"/>
            <a:ext cx="17470132" cy="6891943"/>
            <a:chOff x="0" y="0"/>
            <a:chExt cx="4601187" cy="1815162"/>
          </a:xfrm>
        </p:grpSpPr>
        <p:sp>
          <p:nvSpPr>
            <p:cNvPr id="6" name="Freeform 6"/>
            <p:cNvSpPr/>
            <p:nvPr/>
          </p:nvSpPr>
          <p:spPr>
            <a:xfrm>
              <a:off x="0" y="0"/>
              <a:ext cx="4601187" cy="1815162"/>
            </a:xfrm>
            <a:custGeom>
              <a:avLst/>
              <a:gdLst/>
              <a:ahLst/>
              <a:cxnLst/>
              <a:rect l="l" t="t" r="r" b="b"/>
              <a:pathLst>
                <a:path w="4601187" h="1815162">
                  <a:moveTo>
                    <a:pt x="0" y="0"/>
                  </a:moveTo>
                  <a:lnTo>
                    <a:pt x="4601187" y="0"/>
                  </a:lnTo>
                  <a:lnTo>
                    <a:pt x="4601187" y="1815162"/>
                  </a:lnTo>
                  <a:lnTo>
                    <a:pt x="0" y="1815162"/>
                  </a:lnTo>
                  <a:close/>
                </a:path>
              </a:pathLst>
            </a:custGeom>
            <a:solidFill>
              <a:srgbClr val="FFFFFF"/>
            </a:solidFill>
            <a:ln w="28575" cap="sq">
              <a:solidFill>
                <a:srgbClr val="000000"/>
              </a:solidFill>
              <a:prstDash val="solid"/>
              <a:miter/>
            </a:ln>
          </p:spPr>
          <p:txBody>
            <a:bodyPr/>
            <a:lstStyle/>
            <a:p>
              <a:endParaRPr lang="en-GB"/>
            </a:p>
          </p:txBody>
        </p:sp>
        <p:sp>
          <p:nvSpPr>
            <p:cNvPr id="7" name="TextBox 7"/>
            <p:cNvSpPr txBox="1"/>
            <p:nvPr/>
          </p:nvSpPr>
          <p:spPr>
            <a:xfrm>
              <a:off x="0" y="-47625"/>
              <a:ext cx="4601187" cy="1862787"/>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2909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a:off x="16467139"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Freeform 10"/>
          <p:cNvSpPr/>
          <p:nvPr/>
        </p:nvSpPr>
        <p:spPr>
          <a:xfrm>
            <a:off x="15807211" y="646211"/>
            <a:ext cx="545628" cy="545628"/>
          </a:xfrm>
          <a:custGeom>
            <a:avLst/>
            <a:gdLst/>
            <a:ahLst/>
            <a:cxnLst/>
            <a:rect l="l" t="t" r="r" b="b"/>
            <a:pathLst>
              <a:path w="545628" h="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nvGrpSpPr>
          <p:cNvPr id="11" name="Group 11"/>
          <p:cNvGrpSpPr/>
          <p:nvPr/>
        </p:nvGrpSpPr>
        <p:grpSpPr>
          <a:xfrm>
            <a:off x="408934" y="9193555"/>
            <a:ext cx="17470132" cy="652980"/>
            <a:chOff x="0" y="0"/>
            <a:chExt cx="4601187" cy="171978"/>
          </a:xfrm>
        </p:grpSpPr>
        <p:sp>
          <p:nvSpPr>
            <p:cNvPr id="12" name="Freeform 12"/>
            <p:cNvSpPr/>
            <p:nvPr/>
          </p:nvSpPr>
          <p:spPr>
            <a:xfrm>
              <a:off x="0" y="0"/>
              <a:ext cx="4601187" cy="171978"/>
            </a:xfrm>
            <a:custGeom>
              <a:avLst/>
              <a:gdLst/>
              <a:ahLst/>
              <a:cxnLst/>
              <a:rect l="l" t="t" r="r" b="b"/>
              <a:pathLst>
                <a:path w="4601187" h="171978">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3" name="TextBox 13"/>
            <p:cNvSpPr txBox="1"/>
            <p:nvPr/>
          </p:nvSpPr>
          <p:spPr>
            <a:xfrm>
              <a:off x="0" y="-38100"/>
              <a:ext cx="46011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5886058" y="9193555"/>
            <a:ext cx="1271608" cy="652980"/>
            <a:chOff x="0" y="0"/>
            <a:chExt cx="334909" cy="171978"/>
          </a:xfrm>
        </p:grpSpPr>
        <p:sp>
          <p:nvSpPr>
            <p:cNvPr id="15" name="Freeform 15"/>
            <p:cNvSpPr/>
            <p:nvPr/>
          </p:nvSpPr>
          <p:spPr>
            <a:xfrm>
              <a:off x="0" y="0"/>
              <a:ext cx="334909" cy="171978"/>
            </a:xfrm>
            <a:custGeom>
              <a:avLst/>
              <a:gdLst/>
              <a:ahLst/>
              <a:cxnLst/>
              <a:rect l="l" t="t" r="r" b="b"/>
              <a:pathLst>
                <a:path w="334909" h="171978">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txBody>
            <a:bodyPr/>
            <a:lstStyle/>
            <a:p>
              <a:endParaRPr lang="en-GB"/>
            </a:p>
          </p:txBody>
        </p:sp>
        <p:sp>
          <p:nvSpPr>
            <p:cNvPr id="16" name="TextBox 16"/>
            <p:cNvSpPr txBox="1"/>
            <p:nvPr/>
          </p:nvSpPr>
          <p:spPr>
            <a:xfrm>
              <a:off x="0" y="-38100"/>
              <a:ext cx="334909"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408934" y="9193555"/>
            <a:ext cx="755149" cy="652980"/>
            <a:chOff x="0" y="0"/>
            <a:chExt cx="198887" cy="171978"/>
          </a:xfrm>
        </p:grpSpPr>
        <p:sp>
          <p:nvSpPr>
            <p:cNvPr id="18" name="Freeform 18"/>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19" name="TextBox 19"/>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17123917" y="9193555"/>
            <a:ext cx="755149" cy="652980"/>
            <a:chOff x="0" y="0"/>
            <a:chExt cx="198887" cy="171978"/>
          </a:xfrm>
        </p:grpSpPr>
        <p:sp>
          <p:nvSpPr>
            <p:cNvPr id="21" name="Freeform 21"/>
            <p:cNvSpPr/>
            <p:nvPr/>
          </p:nvSpPr>
          <p:spPr>
            <a:xfrm>
              <a:off x="0" y="0"/>
              <a:ext cx="198887" cy="171978"/>
            </a:xfrm>
            <a:custGeom>
              <a:avLst/>
              <a:gdLst/>
              <a:ahLst/>
              <a:cxnLst/>
              <a:rect l="l" t="t" r="r" b="b"/>
              <a:pathLst>
                <a:path w="198887" h="171978">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txBody>
            <a:bodyPr/>
            <a:lstStyle/>
            <a:p>
              <a:endParaRPr lang="en-GB"/>
            </a:p>
          </p:txBody>
        </p:sp>
        <p:sp>
          <p:nvSpPr>
            <p:cNvPr id="22" name="TextBox 22"/>
            <p:cNvSpPr txBox="1"/>
            <p:nvPr/>
          </p:nvSpPr>
          <p:spPr>
            <a:xfrm>
              <a:off x="0" y="-38100"/>
              <a:ext cx="198887" cy="210078"/>
            </a:xfrm>
            <a:prstGeom prst="rect">
              <a:avLst/>
            </a:prstGeom>
          </p:spPr>
          <p:txBody>
            <a:bodyPr lIns="50800" tIns="50800" rIns="50800" bIns="50800" rtlCol="0" anchor="ctr"/>
            <a:lstStyle/>
            <a:p>
              <a:pPr algn="ctr">
                <a:lnSpc>
                  <a:spcPts val="2659"/>
                </a:lnSpc>
                <a:spcBef>
                  <a:spcPct val="0"/>
                </a:spcBef>
              </a:pPr>
              <a:endParaRPr/>
            </a:p>
          </p:txBody>
        </p:sp>
      </p:grpSp>
      <p:sp>
        <p:nvSpPr>
          <p:cNvPr id="23" name="Freeform 23"/>
          <p:cNvSpPr/>
          <p:nvPr/>
        </p:nvSpPr>
        <p:spPr>
          <a:xfrm>
            <a:off x="17382855" y="9306337"/>
            <a:ext cx="320173" cy="427416"/>
          </a:xfrm>
          <a:custGeom>
            <a:avLst/>
            <a:gdLst/>
            <a:ahLst/>
            <a:cxnLst/>
            <a:rect l="l" t="t" r="r" b="b"/>
            <a:pathLst>
              <a:path w="320173" h="427416">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4" name="Freeform 24"/>
          <p:cNvSpPr/>
          <p:nvPr/>
        </p:nvSpPr>
        <p:spPr>
          <a:xfrm flipH="1">
            <a:off x="584087" y="9306337"/>
            <a:ext cx="320173" cy="427416"/>
          </a:xfrm>
          <a:custGeom>
            <a:avLst/>
            <a:gdLst/>
            <a:ahLst/>
            <a:cxnLst/>
            <a:rect l="l" t="t" r="r" b="b"/>
            <a:pathLst>
              <a:path w="320173" h="427416">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5" name="Freeform 25"/>
          <p:cNvSpPr/>
          <p:nvPr/>
        </p:nvSpPr>
        <p:spPr>
          <a:xfrm>
            <a:off x="1093046" y="5918210"/>
            <a:ext cx="4606142" cy="996602"/>
          </a:xfrm>
          <a:custGeom>
            <a:avLst/>
            <a:gdLst/>
            <a:ahLst/>
            <a:cxnLst/>
            <a:rect l="l" t="t" r="r" b="b"/>
            <a:pathLst>
              <a:path w="4606142" h="996602">
                <a:moveTo>
                  <a:pt x="0" y="0"/>
                </a:moveTo>
                <a:lnTo>
                  <a:pt x="4606142" y="0"/>
                </a:lnTo>
                <a:lnTo>
                  <a:pt x="4606142" y="996602"/>
                </a:lnTo>
                <a:lnTo>
                  <a:pt x="0" y="996602"/>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GB"/>
          </a:p>
        </p:txBody>
      </p:sp>
      <p:sp>
        <p:nvSpPr>
          <p:cNvPr id="26" name="Freeform 26"/>
          <p:cNvSpPr/>
          <p:nvPr/>
        </p:nvSpPr>
        <p:spPr>
          <a:xfrm>
            <a:off x="6687327" y="5931838"/>
            <a:ext cx="4606142" cy="996602"/>
          </a:xfrm>
          <a:custGeom>
            <a:avLst/>
            <a:gdLst/>
            <a:ahLst/>
            <a:cxnLst/>
            <a:rect l="l" t="t" r="r" b="b"/>
            <a:pathLst>
              <a:path w="4606142" h="996602">
                <a:moveTo>
                  <a:pt x="0" y="0"/>
                </a:moveTo>
                <a:lnTo>
                  <a:pt x="4606142" y="0"/>
                </a:lnTo>
                <a:lnTo>
                  <a:pt x="4606142" y="996601"/>
                </a:lnTo>
                <a:lnTo>
                  <a:pt x="0" y="996601"/>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GB"/>
          </a:p>
        </p:txBody>
      </p:sp>
      <p:sp>
        <p:nvSpPr>
          <p:cNvPr id="27" name="Freeform 27"/>
          <p:cNvSpPr/>
          <p:nvPr/>
        </p:nvSpPr>
        <p:spPr>
          <a:xfrm>
            <a:off x="12517776" y="5918210"/>
            <a:ext cx="4606142" cy="996602"/>
          </a:xfrm>
          <a:custGeom>
            <a:avLst/>
            <a:gdLst/>
            <a:ahLst/>
            <a:cxnLst/>
            <a:rect l="l" t="t" r="r" b="b"/>
            <a:pathLst>
              <a:path w="4606142" h="996602">
                <a:moveTo>
                  <a:pt x="0" y="0"/>
                </a:moveTo>
                <a:lnTo>
                  <a:pt x="4606141" y="0"/>
                </a:lnTo>
                <a:lnTo>
                  <a:pt x="4606141" y="996602"/>
                </a:lnTo>
                <a:lnTo>
                  <a:pt x="0" y="996602"/>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GB"/>
          </a:p>
        </p:txBody>
      </p:sp>
      <p:sp>
        <p:nvSpPr>
          <p:cNvPr id="28" name="Freeform 28"/>
          <p:cNvSpPr/>
          <p:nvPr/>
        </p:nvSpPr>
        <p:spPr>
          <a:xfrm>
            <a:off x="6687327" y="6133746"/>
            <a:ext cx="1053840" cy="592785"/>
          </a:xfrm>
          <a:custGeom>
            <a:avLst/>
            <a:gdLst/>
            <a:ahLst/>
            <a:cxnLst/>
            <a:rect l="l" t="t" r="r" b="b"/>
            <a:pathLst>
              <a:path w="1053840" h="592785">
                <a:moveTo>
                  <a:pt x="0" y="0"/>
                </a:moveTo>
                <a:lnTo>
                  <a:pt x="1053840" y="0"/>
                </a:lnTo>
                <a:lnTo>
                  <a:pt x="1053840" y="592785"/>
                </a:lnTo>
                <a:lnTo>
                  <a:pt x="0" y="592785"/>
                </a:lnTo>
                <a:lnTo>
                  <a:pt x="0" y="0"/>
                </a:lnTo>
                <a:close/>
              </a:path>
            </a:pathLst>
          </a:custGeom>
          <a:blipFill>
            <a:blip r:embed="rId12"/>
            <a:stretch>
              <a:fillRect/>
            </a:stretch>
          </a:blipFill>
        </p:spPr>
        <p:txBody>
          <a:bodyPr/>
          <a:lstStyle/>
          <a:p>
            <a:endParaRPr lang="en-GB"/>
          </a:p>
        </p:txBody>
      </p:sp>
      <p:sp>
        <p:nvSpPr>
          <p:cNvPr id="29" name="Freeform 29"/>
          <p:cNvSpPr/>
          <p:nvPr/>
        </p:nvSpPr>
        <p:spPr>
          <a:xfrm>
            <a:off x="12665069" y="6154409"/>
            <a:ext cx="467753" cy="467753"/>
          </a:xfrm>
          <a:custGeom>
            <a:avLst/>
            <a:gdLst/>
            <a:ahLst/>
            <a:cxnLst/>
            <a:rect l="l" t="t" r="r" b="b"/>
            <a:pathLst>
              <a:path w="467753" h="467753">
                <a:moveTo>
                  <a:pt x="0" y="0"/>
                </a:moveTo>
                <a:lnTo>
                  <a:pt x="467753" y="0"/>
                </a:lnTo>
                <a:lnTo>
                  <a:pt x="467753" y="467753"/>
                </a:lnTo>
                <a:lnTo>
                  <a:pt x="0" y="467753"/>
                </a:lnTo>
                <a:lnTo>
                  <a:pt x="0" y="0"/>
                </a:lnTo>
                <a:close/>
              </a:path>
            </a:pathLst>
          </a:custGeom>
          <a:blipFill>
            <a:blip r:embed="rId13"/>
            <a:stretch>
              <a:fillRect/>
            </a:stretch>
          </a:blipFill>
        </p:spPr>
        <p:txBody>
          <a:bodyPr/>
          <a:lstStyle/>
          <a:p>
            <a:endParaRPr lang="en-GB"/>
          </a:p>
        </p:txBody>
      </p:sp>
      <p:sp>
        <p:nvSpPr>
          <p:cNvPr id="30" name="TextBox 30"/>
          <p:cNvSpPr txBox="1"/>
          <p:nvPr/>
        </p:nvSpPr>
        <p:spPr>
          <a:xfrm>
            <a:off x="3884679" y="3627641"/>
            <a:ext cx="10211437" cy="1792486"/>
          </a:xfrm>
          <a:prstGeom prst="rect">
            <a:avLst/>
          </a:prstGeom>
        </p:spPr>
        <p:txBody>
          <a:bodyPr lIns="0" tIns="0" rIns="0" bIns="0" rtlCol="0" anchor="t">
            <a:spAutoFit/>
          </a:bodyPr>
          <a:lstStyle/>
          <a:p>
            <a:pPr algn="ctr">
              <a:lnSpc>
                <a:spcPts val="13499"/>
              </a:lnSpc>
            </a:pPr>
            <a:r>
              <a:rPr lang="en-US" sz="13499" b="1" spc="-458">
                <a:solidFill>
                  <a:srgbClr val="0057CC"/>
                </a:solidFill>
                <a:latin typeface="Anonymous Pro Bold"/>
                <a:ea typeface="Anonymous Pro Bold"/>
                <a:cs typeface="Anonymous Pro Bold"/>
                <a:sym typeface="Anonymous Pro Bold"/>
              </a:rPr>
              <a:t>CONTACT ME</a:t>
            </a:r>
          </a:p>
        </p:txBody>
      </p:sp>
      <p:sp>
        <p:nvSpPr>
          <p:cNvPr id="31" name="TextBox 31"/>
          <p:cNvSpPr txBox="1"/>
          <p:nvPr/>
        </p:nvSpPr>
        <p:spPr>
          <a:xfrm>
            <a:off x="584087" y="644177"/>
            <a:ext cx="5115100" cy="547662"/>
          </a:xfrm>
          <a:prstGeom prst="rect">
            <a:avLst/>
          </a:prstGeom>
        </p:spPr>
        <p:txBody>
          <a:bodyPr lIns="0" tIns="0" rIns="0" bIns="0" rtlCol="0" anchor="t">
            <a:spAutoFit/>
          </a:bodyPr>
          <a:lstStyle/>
          <a:p>
            <a:pPr algn="l">
              <a:lnSpc>
                <a:spcPts val="4462"/>
              </a:lnSpc>
            </a:pPr>
            <a:r>
              <a:rPr lang="en-US" sz="3187" b="1">
                <a:solidFill>
                  <a:srgbClr val="CACACA"/>
                </a:solidFill>
                <a:latin typeface="Cousine Bold"/>
                <a:ea typeface="Cousine Bold"/>
                <a:cs typeface="Cousine Bold"/>
                <a:sym typeface="Cousine Bold"/>
              </a:rPr>
              <a:t>Computer Architecture</a:t>
            </a:r>
          </a:p>
        </p:txBody>
      </p:sp>
      <p:sp>
        <p:nvSpPr>
          <p:cNvPr id="32" name="TextBox 32"/>
          <p:cNvSpPr txBox="1"/>
          <p:nvPr/>
        </p:nvSpPr>
        <p:spPr>
          <a:xfrm>
            <a:off x="584087" y="1585058"/>
            <a:ext cx="1217202"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id="33" name="TextBox 33"/>
          <p:cNvSpPr txBox="1"/>
          <p:nvPr/>
        </p:nvSpPr>
        <p:spPr>
          <a:xfrm>
            <a:off x="2544931" y="1585058"/>
            <a:ext cx="1960844" cy="515159"/>
          </a:xfrm>
          <a:prstGeom prst="rect">
            <a:avLst/>
          </a:prstGeom>
        </p:spPr>
        <p:txBody>
          <a:bodyPr lIns="0" tIns="0" rIns="0" bIns="0" rtlCol="0" anchor="t">
            <a:spAutoFit/>
          </a:bodyPr>
          <a:lstStyle/>
          <a:p>
            <a:pPr algn="l">
              <a:lnSpc>
                <a:spcPts val="4155"/>
              </a:lnSpc>
            </a:pPr>
            <a:r>
              <a:rPr lang="en-US" sz="2968" spc="222">
                <a:solidFill>
                  <a:srgbClr val="000000"/>
                </a:solidFill>
                <a:latin typeface="Cousine"/>
                <a:ea typeface="Cousine"/>
                <a:cs typeface="Cousine"/>
                <a:sym typeface="Cousine"/>
              </a:rPr>
              <a:t>Content</a:t>
            </a:r>
          </a:p>
        </p:txBody>
      </p:sp>
      <p:sp>
        <p:nvSpPr>
          <p:cNvPr id="34" name="TextBox 34"/>
          <p:cNvSpPr txBox="1"/>
          <p:nvPr/>
        </p:nvSpPr>
        <p:spPr>
          <a:xfrm>
            <a:off x="5155770" y="1585058"/>
            <a:ext cx="1960844" cy="515159"/>
          </a:xfrm>
          <a:prstGeom prst="rect">
            <a:avLst/>
          </a:prstGeom>
        </p:spPr>
        <p:txBody>
          <a:bodyPr lIns="0" tIns="0" rIns="0" bIns="0" rtlCol="0" anchor="t">
            <a:spAutoFit/>
          </a:bodyPr>
          <a:lstStyle/>
          <a:p>
            <a:pPr marL="0" lvl="0" indent="0" algn="l">
              <a:lnSpc>
                <a:spcPts val="4155"/>
              </a:lnSpc>
              <a:spcBef>
                <a:spcPct val="0"/>
              </a:spcBef>
            </a:pPr>
            <a:r>
              <a:rPr lang="en-US" sz="2968" b="1" u="none" strike="noStrike" spc="222">
                <a:solidFill>
                  <a:srgbClr val="000000"/>
                </a:solidFill>
                <a:latin typeface="Cousine Bold"/>
                <a:ea typeface="Cousine Bold"/>
                <a:cs typeface="Cousine Bold"/>
                <a:sym typeface="Cousine Bold"/>
              </a:rPr>
              <a:t>Contact</a:t>
            </a:r>
          </a:p>
        </p:txBody>
      </p:sp>
      <p:sp>
        <p:nvSpPr>
          <p:cNvPr id="35" name="TextBox 35"/>
          <p:cNvSpPr txBox="1"/>
          <p:nvPr/>
        </p:nvSpPr>
        <p:spPr>
          <a:xfrm>
            <a:off x="1447900" y="6205145"/>
            <a:ext cx="3836175" cy="421412"/>
          </a:xfrm>
          <a:prstGeom prst="rect">
            <a:avLst/>
          </a:prstGeom>
        </p:spPr>
        <p:txBody>
          <a:bodyPr lIns="0" tIns="0" rIns="0" bIns="0" rtlCol="0" anchor="t">
            <a:spAutoFit/>
          </a:bodyPr>
          <a:lstStyle/>
          <a:p>
            <a:pPr algn="ctr">
              <a:lnSpc>
                <a:spcPts val="3285"/>
              </a:lnSpc>
            </a:pPr>
            <a:r>
              <a:rPr lang="en-US" sz="2628" u="sng">
                <a:solidFill>
                  <a:srgbClr val="000000"/>
                </a:solidFill>
                <a:latin typeface="Cousine"/>
                <a:ea typeface="Cousine"/>
                <a:cs typeface="Cousine"/>
                <a:sym typeface="Cousine"/>
                <a:hlinkClick r:id="rId14" tooltip="https://ahmedyar.vercel.app"/>
              </a:rPr>
              <a:t>ahmedyar.vercel.app</a:t>
            </a:r>
          </a:p>
        </p:txBody>
      </p:sp>
      <p:sp>
        <p:nvSpPr>
          <p:cNvPr id="36" name="TextBox 36"/>
          <p:cNvSpPr txBox="1"/>
          <p:nvPr/>
        </p:nvSpPr>
        <p:spPr>
          <a:xfrm>
            <a:off x="7072310" y="6182285"/>
            <a:ext cx="3836175" cy="439876"/>
          </a:xfrm>
          <a:prstGeom prst="rect">
            <a:avLst/>
          </a:prstGeom>
        </p:spPr>
        <p:txBody>
          <a:bodyPr lIns="0" tIns="0" rIns="0" bIns="0" rtlCol="0" anchor="t">
            <a:spAutoFit/>
          </a:bodyPr>
          <a:lstStyle/>
          <a:p>
            <a:pPr algn="ctr">
              <a:lnSpc>
                <a:spcPts val="3410"/>
              </a:lnSpc>
            </a:pPr>
            <a:r>
              <a:rPr lang="en-US" sz="2728" u="sng">
                <a:solidFill>
                  <a:srgbClr val="000000"/>
                </a:solidFill>
                <a:latin typeface="Cousine"/>
                <a:ea typeface="Cousine"/>
                <a:cs typeface="Cousine"/>
                <a:sym typeface="Cousine"/>
                <a:hlinkClick r:id="rId15" tooltip="https://github.com/ahmedyar7"/>
              </a:rPr>
              <a:t>ahmedyar7</a:t>
            </a:r>
          </a:p>
        </p:txBody>
      </p:sp>
      <p:sp>
        <p:nvSpPr>
          <p:cNvPr id="37" name="TextBox 37"/>
          <p:cNvSpPr txBox="1"/>
          <p:nvPr/>
        </p:nvSpPr>
        <p:spPr>
          <a:xfrm>
            <a:off x="12939606" y="6214670"/>
            <a:ext cx="4073161" cy="316051"/>
          </a:xfrm>
          <a:prstGeom prst="rect">
            <a:avLst/>
          </a:prstGeom>
        </p:spPr>
        <p:txBody>
          <a:bodyPr lIns="0" tIns="0" rIns="0" bIns="0" rtlCol="0" anchor="t">
            <a:spAutoFit/>
          </a:bodyPr>
          <a:lstStyle/>
          <a:p>
            <a:pPr algn="ctr">
              <a:lnSpc>
                <a:spcPts val="2470"/>
              </a:lnSpc>
            </a:pPr>
            <a:r>
              <a:rPr lang="en-US" sz="1976" u="sng">
                <a:solidFill>
                  <a:srgbClr val="000000"/>
                </a:solidFill>
                <a:latin typeface="Cousine"/>
                <a:ea typeface="Cousine"/>
                <a:cs typeface="Cousine"/>
                <a:sym typeface="Cousine"/>
                <a:hlinkClick r:id="rId16" tooltip="https://mail.google.com/mail/?view=cm&amp;fs=1&amp;to=ahmedyar.info@gmail.com&amp;su=Hello%20from%20the%20website&amp;body=Hi%20there%2C%0A%0AI%20wanted%20to%20ask%20..."/>
              </a:rPr>
              <a:t>ahmedyar.info@gmail.com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1543</Words>
  <Application>Microsoft Office PowerPoint</Application>
  <PresentationFormat>Custom</PresentationFormat>
  <Paragraphs>174</Paragraphs>
  <Slides>14</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Cousine Bold</vt:lpstr>
      <vt:lpstr>Cousine</vt:lpstr>
      <vt:lpstr>Canva Sans</vt:lpstr>
      <vt:lpstr>Calibri</vt:lpstr>
      <vt:lpstr>Arial</vt:lpstr>
      <vt:lpstr>Cousine Bold Italics</vt:lpstr>
      <vt:lpstr>Anonymous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 Simulator-Computer Architecture</dc:title>
  <cp:lastModifiedBy>Ahmed yar</cp:lastModifiedBy>
  <cp:revision>1</cp:revision>
  <dcterms:created xsi:type="dcterms:W3CDTF">2006-08-16T00:00:00Z</dcterms:created>
  <dcterms:modified xsi:type="dcterms:W3CDTF">2025-12-16T16:01:48Z</dcterms:modified>
  <dc:identifier>DAG4d_EBoEA</dc:identifier>
</cp:coreProperties>
</file>